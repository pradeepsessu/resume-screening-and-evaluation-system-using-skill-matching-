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Extenda 40 Hecto" charset="1" panose="020B0003020200000002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6580" y="781050"/>
            <a:ext cx="16994840" cy="482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28"/>
              </a:lnSpc>
            </a:pPr>
            <a:r>
              <a:rPr lang="en-US" sz="21864">
                <a:solidFill>
                  <a:srgbClr val="E0E0E4"/>
                </a:solidFill>
                <a:latin typeface="Extenda 40 Hecto"/>
                <a:ea typeface="Extenda 40 Hecto"/>
                <a:cs typeface="Extenda 40 Hecto"/>
                <a:sym typeface="Extenda 40 Hecto"/>
              </a:rPr>
              <a:t>RESUME SCREENING AND EVALUATION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71314" y="4811989"/>
            <a:ext cx="4481246" cy="41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8"/>
              </a:lnSpc>
            </a:pPr>
            <a:r>
              <a:rPr lang="en-US" sz="2523">
                <a:solidFill>
                  <a:srgbClr val="E0E0E4"/>
                </a:solidFill>
                <a:latin typeface="Poppins"/>
                <a:ea typeface="Poppins"/>
                <a:cs typeface="Poppins"/>
                <a:sym typeface="Poppins"/>
              </a:rPr>
              <a:t>USING SKILL MATCHING.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90595" y="6375194"/>
            <a:ext cx="5106811" cy="275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b="true" sz="2523">
                <a:solidFill>
                  <a:srgbClr val="E0E0E4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BY:</a:t>
            </a:r>
          </a:p>
          <a:p>
            <a:pPr algn="ctr">
              <a:lnSpc>
                <a:spcPts val="3078"/>
              </a:lnSpc>
            </a:pPr>
          </a:p>
          <a:p>
            <a:pPr algn="ctr">
              <a:lnSpc>
                <a:spcPts val="3078"/>
              </a:lnSpc>
            </a:pPr>
            <a:r>
              <a:rPr lang="en-US" sz="2523">
                <a:solidFill>
                  <a:srgbClr val="E0E0E4"/>
                </a:solidFill>
                <a:latin typeface="Poppins"/>
                <a:ea typeface="Poppins"/>
                <a:cs typeface="Poppins"/>
                <a:sym typeface="Poppins"/>
              </a:rPr>
              <a:t>N.PRADEEP - 23CSE3022</a:t>
            </a:r>
          </a:p>
          <a:p>
            <a:pPr algn="ctr">
              <a:lnSpc>
                <a:spcPts val="3078"/>
              </a:lnSpc>
            </a:pPr>
            <a:r>
              <a:rPr lang="en-US" sz="2523">
                <a:solidFill>
                  <a:srgbClr val="E0E0E4"/>
                </a:solidFill>
                <a:latin typeface="Poppins"/>
                <a:ea typeface="Poppins"/>
                <a:cs typeface="Poppins"/>
                <a:sym typeface="Poppins"/>
              </a:rPr>
              <a:t>CH.NAGATEJA - 23CSE3001</a:t>
            </a:r>
          </a:p>
          <a:p>
            <a:pPr algn="ctr">
              <a:lnSpc>
                <a:spcPts val="3078"/>
              </a:lnSpc>
            </a:pPr>
            <a:r>
              <a:rPr lang="en-US" sz="2523">
                <a:solidFill>
                  <a:srgbClr val="E0E0E4"/>
                </a:solidFill>
                <a:latin typeface="Poppins"/>
                <a:ea typeface="Poppins"/>
                <a:cs typeface="Poppins"/>
                <a:sym typeface="Poppins"/>
              </a:rPr>
              <a:t>V.VISHWAKSEN - 23CSE3030</a:t>
            </a:r>
          </a:p>
          <a:p>
            <a:pPr algn="ctr">
              <a:lnSpc>
                <a:spcPts val="3078"/>
              </a:lnSpc>
            </a:pPr>
            <a:r>
              <a:rPr lang="en-US" sz="2523">
                <a:solidFill>
                  <a:srgbClr val="E0E0E4"/>
                </a:solidFill>
                <a:latin typeface="Poppins"/>
                <a:ea typeface="Poppins"/>
                <a:cs typeface="Poppins"/>
                <a:sym typeface="Poppins"/>
              </a:rPr>
              <a:t>M.VENKATESH - 23CSE3010</a:t>
            </a:r>
          </a:p>
          <a:p>
            <a:pPr algn="ctr">
              <a:lnSpc>
                <a:spcPts val="3078"/>
              </a:lnSpc>
            </a:pPr>
            <a:r>
              <a:rPr lang="en-US" sz="2523">
                <a:solidFill>
                  <a:srgbClr val="E0E0E4"/>
                </a:solidFill>
                <a:latin typeface="Poppins"/>
                <a:ea typeface="Poppins"/>
                <a:cs typeface="Poppins"/>
                <a:sym typeface="Poppins"/>
              </a:rPr>
              <a:t>P.RISHI - 23CSE3039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38740"/>
            <a:ext cx="14676702" cy="270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6"/>
              </a:lnSpc>
            </a:pPr>
            <a:r>
              <a:rPr lang="en-US" sz="24742">
                <a:solidFill>
                  <a:srgbClr val="F0F0F0"/>
                </a:solidFill>
                <a:latin typeface="Extenda 40 Hecto"/>
                <a:ea typeface="Extenda 40 Hecto"/>
                <a:cs typeface="Extenda 40 Hecto"/>
                <a:sym typeface="Extenda 40 Hecto"/>
              </a:rPr>
              <a:t>ABSTRACT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78277" y="4037324"/>
            <a:ext cx="12931447" cy="381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3285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Recruitment involves reviewing a large number of resumes, which is often time-consuming and repetitive.</a:t>
            </a:r>
          </a:p>
          <a:p>
            <a:pPr algn="l">
              <a:lnSpc>
                <a:spcPts val="3778"/>
              </a:lnSpc>
            </a:pPr>
            <a:r>
              <a:rPr lang="en-US" sz="3285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This project builds a Resume Screening and Evaluation System that automatically extracts skills from resumes, compares them with job requirements, and evaluates candidates using simple rule-based logic.</a:t>
            </a:r>
          </a:p>
          <a:p>
            <a:pPr algn="l">
              <a:lnSpc>
                <a:spcPts val="3778"/>
              </a:lnSpc>
            </a:pPr>
            <a:r>
              <a:rPr lang="en-US" sz="3285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The system is designed with a modular structure to keep the evaluation process clear, flexible, and easy to improve.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0656" y="790575"/>
            <a:ext cx="16778644" cy="344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44"/>
              </a:lnSpc>
            </a:pPr>
            <a:r>
              <a:rPr lang="en-US" sz="27826">
                <a:solidFill>
                  <a:srgbClr val="FCFCFC"/>
                </a:solidFill>
                <a:latin typeface="Extenda 40 Hecto"/>
                <a:ea typeface="Extenda 40 Hecto"/>
                <a:cs typeface="Extenda 40 Hecto"/>
                <a:sym typeface="Extenda 40 Hecto"/>
              </a:rPr>
              <a:t>PROBLEM DEFINITION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24599"/>
            <a:ext cx="12091634" cy="6306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3072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Organizations receive many resumes for a single job role.</a:t>
            </a:r>
          </a:p>
          <a:p>
            <a:pPr algn="l">
              <a:lnSpc>
                <a:spcPts val="3533"/>
              </a:lnSpc>
            </a:pPr>
            <a:r>
              <a:rPr lang="en-US" sz="3072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Manually reviewing each resume takes time and can lead to inconsistent decisions.</a:t>
            </a:r>
          </a:p>
          <a:p>
            <a:pPr algn="l">
              <a:lnSpc>
                <a:spcPts val="3533"/>
              </a:lnSpc>
            </a:pPr>
          </a:p>
          <a:p>
            <a:pPr algn="l">
              <a:lnSpc>
                <a:spcPts val="3533"/>
              </a:lnSpc>
            </a:pPr>
            <a:r>
              <a:rPr lang="en-US" sz="3072" b="true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Main Problems:</a:t>
            </a:r>
          </a:p>
          <a:p>
            <a:pPr algn="l" marL="663316" indent="-331658" lvl="1">
              <a:lnSpc>
                <a:spcPts val="3533"/>
              </a:lnSpc>
              <a:buFont typeface="Arial"/>
              <a:buChar char="•"/>
            </a:pPr>
            <a:r>
              <a:rPr lang="en-US" sz="3072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Manual screening is slow</a:t>
            </a:r>
          </a:p>
          <a:p>
            <a:pPr algn="l" marL="663316" indent="-331658" lvl="1">
              <a:lnSpc>
                <a:spcPts val="3533"/>
              </a:lnSpc>
              <a:buFont typeface="Arial"/>
              <a:buChar char="•"/>
            </a:pPr>
            <a:r>
              <a:rPr lang="en-US" sz="3072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Difficult to compare candidates fairly</a:t>
            </a:r>
          </a:p>
          <a:p>
            <a:pPr algn="l" marL="663316" indent="-331658" lvl="1">
              <a:lnSpc>
                <a:spcPts val="3533"/>
              </a:lnSpc>
              <a:buFont typeface="Arial"/>
              <a:buChar char="•"/>
            </a:pPr>
            <a:r>
              <a:rPr lang="en-US" sz="3072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No structured evaluation method</a:t>
            </a:r>
          </a:p>
          <a:p>
            <a:pPr algn="l">
              <a:lnSpc>
                <a:spcPts val="3533"/>
              </a:lnSpc>
            </a:pPr>
          </a:p>
          <a:p>
            <a:pPr algn="l">
              <a:lnSpc>
                <a:spcPts val="3533"/>
              </a:lnSpc>
            </a:pPr>
          </a:p>
          <a:p>
            <a:pPr algn="l">
              <a:lnSpc>
                <a:spcPts val="3533"/>
              </a:lnSpc>
            </a:pPr>
            <a:r>
              <a:rPr lang="en-US" sz="3072" b="true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Statement:</a:t>
            </a:r>
          </a:p>
          <a:p>
            <a:pPr algn="l">
              <a:lnSpc>
                <a:spcPts val="3533"/>
              </a:lnSpc>
            </a:pPr>
            <a:r>
              <a:rPr lang="en-US" sz="3072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There is a need for an automated system to screen and evaluate resumes efficiently and consistently.</a:t>
            </a:r>
          </a:p>
          <a:p>
            <a:pPr algn="l">
              <a:lnSpc>
                <a:spcPts val="353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0499" y="1319339"/>
            <a:ext cx="17945350" cy="227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60"/>
              </a:lnSpc>
            </a:pPr>
            <a:r>
              <a:rPr lang="en-US" sz="19130">
                <a:solidFill>
                  <a:srgbClr val="FCFCFC"/>
                </a:solidFill>
                <a:latin typeface="Extenda 40 Hecto"/>
                <a:ea typeface="Extenda 40 Hecto"/>
                <a:cs typeface="Extenda 40 Hecto"/>
                <a:sym typeface="Extenda 40 Hecto"/>
              </a:rPr>
              <a:t>LITERATURE SURVEY SUMMARY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1975" y="3877555"/>
            <a:ext cx="14690639" cy="538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381" b="true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From studying existing recruitment systems:</a:t>
            </a:r>
          </a:p>
          <a:p>
            <a:pPr algn="l">
              <a:lnSpc>
                <a:spcPts val="3888"/>
              </a:lnSpc>
            </a:pPr>
          </a:p>
          <a:p>
            <a:pPr algn="l" marL="730039" indent="-365019" lvl="1">
              <a:lnSpc>
                <a:spcPts val="3888"/>
              </a:lnSpc>
              <a:buFont typeface="Arial"/>
              <a:buChar char="•"/>
            </a:pPr>
            <a:r>
              <a:rPr lang="en-US" sz="3381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Most screening is done manually or with basic keyword tools</a:t>
            </a:r>
          </a:p>
          <a:p>
            <a:pPr algn="l" marL="730039" indent="-365019" lvl="1">
              <a:lnSpc>
                <a:spcPts val="3888"/>
              </a:lnSpc>
              <a:buFont typeface="Arial"/>
              <a:buChar char="•"/>
            </a:pPr>
            <a:r>
              <a:rPr lang="en-US" sz="3381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Advanced systems are costly and complex</a:t>
            </a:r>
          </a:p>
          <a:p>
            <a:pPr algn="l" marL="730039" indent="-365019" lvl="1">
              <a:lnSpc>
                <a:spcPts val="3888"/>
              </a:lnSpc>
              <a:buFont typeface="Arial"/>
              <a:buChar char="•"/>
            </a:pPr>
            <a:r>
              <a:rPr lang="en-US" sz="3381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Simple rule-based evaluation is rarely implemented clearly</a:t>
            </a:r>
          </a:p>
          <a:p>
            <a:pPr algn="l">
              <a:lnSpc>
                <a:spcPts val="3888"/>
              </a:lnSpc>
            </a:pPr>
          </a:p>
          <a:p>
            <a:pPr algn="l">
              <a:lnSpc>
                <a:spcPts val="3888"/>
              </a:lnSpc>
            </a:pPr>
          </a:p>
          <a:p>
            <a:pPr algn="l">
              <a:lnSpc>
                <a:spcPts val="3888"/>
              </a:lnSpc>
            </a:pPr>
            <a:r>
              <a:rPr lang="en-US" sz="3381" b="true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Observation:</a:t>
            </a:r>
          </a:p>
          <a:p>
            <a:pPr algn="l">
              <a:lnSpc>
                <a:spcPts val="3888"/>
              </a:lnSpc>
            </a:pPr>
            <a:r>
              <a:rPr lang="en-US" sz="3381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There is scope for a lightweight and structured resume evaluation system suitable for academic and small-scale use.</a:t>
            </a:r>
          </a:p>
          <a:p>
            <a:pPr algn="l">
              <a:lnSpc>
                <a:spcPts val="388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4874877" cy="7514930"/>
            <a:chOff x="0" y="0"/>
            <a:chExt cx="19833169" cy="1001990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742950"/>
              <a:ext cx="18792980" cy="3849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31"/>
                </a:lnSpc>
              </a:pPr>
              <a:r>
                <a:rPr lang="en-US" sz="22625">
                  <a:solidFill>
                    <a:srgbClr val="FCFCFC"/>
                  </a:solidFill>
                  <a:latin typeface="Extenda 40 Hecto"/>
                  <a:ea typeface="Extenda 40 Hecto"/>
                  <a:cs typeface="Extenda 40 Hecto"/>
                  <a:sym typeface="Extenda 40 Hecto"/>
                </a:rPr>
                <a:t>PROPOSED SOLUTION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24367" y="3823873"/>
              <a:ext cx="10820400" cy="1503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583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The proposed system automates resume screening using skill matching.</a:t>
              </a:r>
            </a:p>
            <a:p>
              <a:pPr algn="l">
                <a:lnSpc>
                  <a:spcPts val="2971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24367" y="5308740"/>
              <a:ext cx="6285805" cy="2425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42"/>
                </a:lnSpc>
              </a:pPr>
              <a:r>
                <a:rPr lang="en-US" sz="4123" b="true">
                  <a:solidFill>
                    <a:srgbClr val="FCFC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Features:</a:t>
              </a:r>
            </a:p>
            <a:p>
              <a:pPr algn="l">
                <a:lnSpc>
                  <a:spcPts val="4742"/>
                </a:lnSpc>
              </a:pPr>
            </a:p>
            <a:p>
              <a:pPr algn="l">
                <a:lnSpc>
                  <a:spcPts val="4742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24367" y="6530930"/>
              <a:ext cx="19508802" cy="3488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7854" indent="-278927" lvl="1">
                <a:lnSpc>
                  <a:spcPts val="2971"/>
                </a:lnSpc>
                <a:buFont typeface="Arial"/>
                <a:buChar char="•"/>
              </a:pPr>
              <a:r>
                <a:rPr lang="en-US" sz="2583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Extracts skills from resumes</a:t>
              </a:r>
            </a:p>
            <a:p>
              <a:pPr algn="l" marL="557854" indent="-278927" lvl="1">
                <a:lnSpc>
                  <a:spcPts val="2971"/>
                </a:lnSpc>
                <a:buFont typeface="Arial"/>
                <a:buChar char="•"/>
              </a:pPr>
              <a:r>
                <a:rPr lang="en-US" sz="2583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Matches skills with job requirements</a:t>
              </a:r>
            </a:p>
            <a:p>
              <a:pPr algn="l" marL="557854" indent="-278927" lvl="1">
                <a:lnSpc>
                  <a:spcPts val="2971"/>
                </a:lnSpc>
                <a:buFont typeface="Arial"/>
                <a:buChar char="•"/>
              </a:pPr>
              <a:r>
                <a:rPr lang="en-US" sz="2583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Applies weighted scoring</a:t>
              </a:r>
            </a:p>
            <a:p>
              <a:pPr algn="l" marL="557854" indent="-278927" lvl="1">
                <a:lnSpc>
                  <a:spcPts val="2971"/>
                </a:lnSpc>
                <a:buFont typeface="Arial"/>
                <a:buChar char="•"/>
              </a:pPr>
              <a:r>
                <a:rPr lang="en-US" sz="2583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Classifies candidates based on suitability</a:t>
              </a:r>
            </a:p>
            <a:p>
              <a:pPr algn="l">
                <a:lnSpc>
                  <a:spcPts val="2971"/>
                </a:lnSpc>
              </a:pPr>
            </a:p>
            <a:p>
              <a:pPr algn="l">
                <a:lnSpc>
                  <a:spcPts val="2971"/>
                </a:lnSpc>
              </a:pPr>
              <a:r>
                <a:rPr lang="en-US" sz="2583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83" b="true">
                  <a:solidFill>
                    <a:srgbClr val="FCFC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Benefit</a:t>
              </a:r>
              <a:r>
                <a:rPr lang="en-US" sz="2583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:</a:t>
              </a:r>
            </a:p>
            <a:p>
              <a:pPr algn="l">
                <a:lnSpc>
                  <a:spcPts val="2971"/>
                </a:lnSpc>
              </a:pPr>
              <a:r>
                <a:rPr lang="en-US" sz="2583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 Reduces manual effort and improves consistency in resume evaluation.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11841" y="3158475"/>
            <a:ext cx="12664318" cy="6221346"/>
          </a:xfrm>
          <a:custGeom>
            <a:avLst/>
            <a:gdLst/>
            <a:ahLst/>
            <a:cxnLst/>
            <a:rect r="r" b="b" t="t" l="l"/>
            <a:pathLst>
              <a:path h="6221346" w="12664318">
                <a:moveTo>
                  <a:pt x="0" y="0"/>
                </a:moveTo>
                <a:lnTo>
                  <a:pt x="12664318" y="0"/>
                </a:lnTo>
                <a:lnTo>
                  <a:pt x="12664318" y="6221346"/>
                </a:lnTo>
                <a:lnTo>
                  <a:pt x="0" y="6221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7324" y="520912"/>
            <a:ext cx="17990676" cy="322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3"/>
              </a:lnSpc>
            </a:pPr>
            <a:r>
              <a:rPr lang="en-US" sz="26003">
                <a:solidFill>
                  <a:srgbClr val="FCFCFC"/>
                </a:solidFill>
                <a:latin typeface="Extenda 40 Hecto"/>
                <a:ea typeface="Extenda 40 Hecto"/>
                <a:cs typeface="Extenda 40 Hecto"/>
                <a:sym typeface="Extenda 40 Hecto"/>
              </a:rP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91513" y="657225"/>
            <a:ext cx="13904973" cy="285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4"/>
              </a:lnSpc>
            </a:pPr>
            <a:r>
              <a:rPr lang="en-US" sz="23060">
                <a:solidFill>
                  <a:srgbClr val="FCFCFC"/>
                </a:solidFill>
                <a:latin typeface="Extenda 40 Hecto"/>
                <a:ea typeface="Extenda 40 Hecto"/>
                <a:cs typeface="Extenda 40 Hecto"/>
                <a:sym typeface="Extenda 40 Hecto"/>
              </a:rPr>
              <a:t>MODILE-WISE PLAN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2463" y="3491868"/>
            <a:ext cx="15823074" cy="530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9608" indent="-264804" lvl="1">
              <a:lnSpc>
                <a:spcPts val="2820"/>
              </a:lnSpc>
              <a:buFont typeface="Arial"/>
              <a:buChar char="•"/>
            </a:pPr>
            <a:r>
              <a:rPr lang="en-US" b="true" sz="2453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Resume Module:</a:t>
            </a:r>
          </a:p>
          <a:p>
            <a:pPr algn="l">
              <a:lnSpc>
                <a:spcPts val="2820"/>
              </a:lnSpc>
            </a:pPr>
            <a:r>
              <a:rPr lang="en-US" sz="2453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453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  Accepts resume text as input and performs basic preprocessing before analysis.</a:t>
            </a:r>
          </a:p>
          <a:p>
            <a:pPr algn="l">
              <a:lnSpc>
                <a:spcPts val="2820"/>
              </a:lnSpc>
            </a:pPr>
          </a:p>
          <a:p>
            <a:pPr algn="l" marL="529608" indent="-264804" lvl="1">
              <a:lnSpc>
                <a:spcPts val="2820"/>
              </a:lnSpc>
              <a:buFont typeface="Arial"/>
              <a:buChar char="•"/>
            </a:pPr>
            <a:r>
              <a:rPr lang="en-US" b="true" sz="2453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Job Description Module:</a:t>
            </a:r>
          </a:p>
          <a:p>
            <a:pPr algn="l">
              <a:lnSpc>
                <a:spcPts val="2820"/>
              </a:lnSpc>
            </a:pPr>
            <a:r>
              <a:rPr lang="en-US" sz="2453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453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Stores job role details along with required and optional skills for evaluation.</a:t>
            </a:r>
          </a:p>
          <a:p>
            <a:pPr algn="l">
              <a:lnSpc>
                <a:spcPts val="2820"/>
              </a:lnSpc>
            </a:pPr>
          </a:p>
          <a:p>
            <a:pPr algn="l" marL="529608" indent="-264804" lvl="1">
              <a:lnSpc>
                <a:spcPts val="2820"/>
              </a:lnSpc>
              <a:buFont typeface="Arial"/>
              <a:buChar char="•"/>
            </a:pPr>
            <a:r>
              <a:rPr lang="en-US" b="true" sz="2453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Skill Extraction Module:</a:t>
            </a:r>
          </a:p>
          <a:p>
            <a:pPr algn="l">
              <a:lnSpc>
                <a:spcPts val="2820"/>
              </a:lnSpc>
            </a:pPr>
            <a:r>
              <a:rPr lang="en-US" sz="2453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    Scans resume and job description text to identify relevant skills using a predefined skill set.</a:t>
            </a:r>
          </a:p>
          <a:p>
            <a:pPr algn="l">
              <a:lnSpc>
                <a:spcPts val="2820"/>
              </a:lnSpc>
            </a:pPr>
          </a:p>
          <a:p>
            <a:pPr algn="l" marL="529608" indent="-264804" lvl="1">
              <a:lnSpc>
                <a:spcPts val="2820"/>
              </a:lnSpc>
              <a:buFont typeface="Arial"/>
              <a:buChar char="•"/>
            </a:pPr>
            <a:r>
              <a:rPr lang="en-US" b="true" sz="2453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Module:</a:t>
            </a:r>
          </a:p>
          <a:p>
            <a:pPr algn="l">
              <a:lnSpc>
                <a:spcPts val="2820"/>
              </a:lnSpc>
            </a:pPr>
            <a:r>
              <a:rPr lang="en-US" sz="2453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    </a:t>
            </a:r>
            <a:r>
              <a:rPr lang="en-US" sz="2453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Matches extracted skills, applies weighted scoring logic, and determines candidate suitability.</a:t>
            </a:r>
          </a:p>
          <a:p>
            <a:pPr algn="l">
              <a:lnSpc>
                <a:spcPts val="2820"/>
              </a:lnSpc>
            </a:pPr>
          </a:p>
          <a:p>
            <a:pPr algn="l" marL="529608" indent="-264804" lvl="1">
              <a:lnSpc>
                <a:spcPts val="2820"/>
              </a:lnSpc>
              <a:buFont typeface="Arial"/>
              <a:buChar char="•"/>
            </a:pPr>
            <a:r>
              <a:rPr lang="en-US" b="true" sz="2453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Report Module:</a:t>
            </a:r>
          </a:p>
          <a:p>
            <a:pPr algn="l">
              <a:lnSpc>
                <a:spcPts val="2820"/>
              </a:lnSpc>
            </a:pPr>
            <a:r>
              <a:rPr lang="en-US" sz="2453" b="true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</a:t>
            </a:r>
            <a:r>
              <a:rPr lang="en-US" sz="2453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Generates a clear summary showing matched skills, final score, and candidate classification.</a:t>
            </a:r>
          </a:p>
          <a:p>
            <a:pPr algn="l">
              <a:lnSpc>
                <a:spcPts val="28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80163" y="3191250"/>
            <a:ext cx="2295530" cy="2403696"/>
          </a:xfrm>
          <a:custGeom>
            <a:avLst/>
            <a:gdLst/>
            <a:ahLst/>
            <a:cxnLst/>
            <a:rect r="r" b="b" t="t" l="l"/>
            <a:pathLst>
              <a:path h="2403696" w="2295530">
                <a:moveTo>
                  <a:pt x="0" y="0"/>
                </a:moveTo>
                <a:lnTo>
                  <a:pt x="2295530" y="0"/>
                </a:lnTo>
                <a:lnTo>
                  <a:pt x="2295530" y="2403696"/>
                </a:lnTo>
                <a:lnTo>
                  <a:pt x="0" y="2403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2043" y="6240176"/>
            <a:ext cx="4235788" cy="3123893"/>
          </a:xfrm>
          <a:custGeom>
            <a:avLst/>
            <a:gdLst/>
            <a:ahLst/>
            <a:cxnLst/>
            <a:rect r="r" b="b" t="t" l="l"/>
            <a:pathLst>
              <a:path h="3123893" w="4235788">
                <a:moveTo>
                  <a:pt x="0" y="0"/>
                </a:moveTo>
                <a:lnTo>
                  <a:pt x="4235788" y="0"/>
                </a:lnTo>
                <a:lnTo>
                  <a:pt x="4235788" y="3123894"/>
                </a:lnTo>
                <a:lnTo>
                  <a:pt x="0" y="3123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54209" y="2892550"/>
            <a:ext cx="4001459" cy="3001094"/>
          </a:xfrm>
          <a:custGeom>
            <a:avLst/>
            <a:gdLst/>
            <a:ahLst/>
            <a:cxnLst/>
            <a:rect r="r" b="b" t="t" l="l"/>
            <a:pathLst>
              <a:path h="3001094" w="4001459">
                <a:moveTo>
                  <a:pt x="0" y="0"/>
                </a:moveTo>
                <a:lnTo>
                  <a:pt x="4001459" y="0"/>
                </a:lnTo>
                <a:lnTo>
                  <a:pt x="4001459" y="3001095"/>
                </a:lnTo>
                <a:lnTo>
                  <a:pt x="0" y="3001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31829" y="6290203"/>
            <a:ext cx="3023839" cy="3023839"/>
          </a:xfrm>
          <a:custGeom>
            <a:avLst/>
            <a:gdLst/>
            <a:ahLst/>
            <a:cxnLst/>
            <a:rect r="r" b="b" t="t" l="l"/>
            <a:pathLst>
              <a:path h="3023839" w="3023839">
                <a:moveTo>
                  <a:pt x="0" y="0"/>
                </a:moveTo>
                <a:lnTo>
                  <a:pt x="3023839" y="0"/>
                </a:lnTo>
                <a:lnTo>
                  <a:pt x="3023839" y="3023839"/>
                </a:lnTo>
                <a:lnTo>
                  <a:pt x="0" y="3023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85416" y="2694271"/>
            <a:ext cx="3397653" cy="3397653"/>
          </a:xfrm>
          <a:custGeom>
            <a:avLst/>
            <a:gdLst/>
            <a:ahLst/>
            <a:cxnLst/>
            <a:rect r="r" b="b" t="t" l="l"/>
            <a:pathLst>
              <a:path h="3397653" w="3397653">
                <a:moveTo>
                  <a:pt x="0" y="0"/>
                </a:moveTo>
                <a:lnTo>
                  <a:pt x="3397653" y="0"/>
                </a:lnTo>
                <a:lnTo>
                  <a:pt x="3397653" y="3397653"/>
                </a:lnTo>
                <a:lnTo>
                  <a:pt x="0" y="33976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27601" y="7202908"/>
            <a:ext cx="7713284" cy="1754197"/>
          </a:xfrm>
          <a:custGeom>
            <a:avLst/>
            <a:gdLst/>
            <a:ahLst/>
            <a:cxnLst/>
            <a:rect r="r" b="b" t="t" l="l"/>
            <a:pathLst>
              <a:path h="1754197" w="7713284">
                <a:moveTo>
                  <a:pt x="0" y="0"/>
                </a:moveTo>
                <a:lnTo>
                  <a:pt x="7713284" y="0"/>
                </a:lnTo>
                <a:lnTo>
                  <a:pt x="7713284" y="1754197"/>
                </a:lnTo>
                <a:lnTo>
                  <a:pt x="0" y="17541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9684" r="0" b="-7764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2387191" y="981078"/>
            <a:ext cx="14125853" cy="271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36"/>
              </a:lnSpc>
            </a:pPr>
            <a:r>
              <a:rPr lang="en-US" sz="23545">
                <a:solidFill>
                  <a:srgbClr val="F7F7F7"/>
                </a:solidFill>
                <a:latin typeface="Extenda 40 Hecto"/>
                <a:ea typeface="Extenda 40 Hecto"/>
                <a:cs typeface="Extenda 40 Hecto"/>
                <a:sym typeface="Extenda 40 Hecto"/>
              </a:rPr>
              <a:t>TOOLS REQUIRED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92369" y="5665456"/>
            <a:ext cx="1623518" cy="44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870" b="true">
                <a:solidFill>
                  <a:srgbClr val="F0F0F0"/>
                </a:solidFill>
                <a:latin typeface="Poppins Bold"/>
                <a:ea typeface="Poppins Bold"/>
                <a:cs typeface="Poppins Bold"/>
                <a:sym typeface="Poppins Bold"/>
              </a:rPr>
              <a:t>Python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50993" y="5665456"/>
            <a:ext cx="7316459" cy="44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870" b="true">
                <a:solidFill>
                  <a:srgbClr val="F0F0F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 oriented programming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94941" y="5645071"/>
            <a:ext cx="3771468" cy="44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870" b="true">
                <a:solidFill>
                  <a:srgbClr val="F0F0F0"/>
                </a:solidFill>
                <a:latin typeface="Poppins Bold"/>
                <a:ea typeface="Poppins Bold"/>
                <a:cs typeface="Poppins Bold"/>
                <a:sym typeface="Poppins Bold"/>
              </a:rPr>
              <a:t>Console interface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67193" y="9485492"/>
            <a:ext cx="2388475" cy="44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870" b="true">
                <a:solidFill>
                  <a:srgbClr val="F0F0F0"/>
                </a:solidFill>
                <a:latin typeface="Poppins Bold"/>
                <a:ea typeface="Poppins Bold"/>
                <a:cs typeface="Poppins Bold"/>
                <a:sym typeface="Poppins Bold"/>
              </a:rPr>
              <a:t>Text Files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91247" y="9485492"/>
            <a:ext cx="3768053" cy="44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870" b="true">
                <a:solidFill>
                  <a:srgbClr val="F0F0F0"/>
                </a:solidFill>
                <a:latin typeface="Poppins Bold"/>
                <a:ea typeface="Poppins Bold"/>
                <a:cs typeface="Poppins Bold"/>
                <a:sym typeface="Poppins Bold"/>
              </a:rPr>
              <a:t>Windows 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5911" y="9354545"/>
            <a:ext cx="3768053" cy="44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870" b="true">
                <a:solidFill>
                  <a:srgbClr val="F0F0F0"/>
                </a:solidFill>
                <a:latin typeface="Poppins Bold"/>
                <a:ea typeface="Poppins Bold"/>
                <a:cs typeface="Poppins Bold"/>
                <a:sym typeface="Poppins Bold"/>
              </a:rPr>
              <a:t>Visual Studio Code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274273"/>
            <a:ext cx="9135115" cy="246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4"/>
              </a:lnSpc>
            </a:pPr>
            <a:r>
              <a:rPr lang="en-US" sz="22123">
                <a:solidFill>
                  <a:srgbClr val="F0F0F0"/>
                </a:solidFill>
                <a:latin typeface="Extenda 40 Hecto"/>
                <a:ea typeface="Extenda 40 Hecto"/>
                <a:cs typeface="Extenda 40 Hecto"/>
                <a:sym typeface="Extenda 40 Hecto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95034"/>
            <a:ext cx="13183650" cy="294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87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This project provides a simple and effective approach to resume screening.</a:t>
            </a:r>
          </a:p>
          <a:p>
            <a:pPr algn="l">
              <a:lnSpc>
                <a:spcPts val="3301"/>
              </a:lnSpc>
            </a:pPr>
            <a:r>
              <a:rPr lang="en-US" sz="287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By automating skill extraction and evaluation, it helps reduce manual    work and supports better shortlisting decisions.</a:t>
            </a:r>
          </a:p>
          <a:p>
            <a:pPr algn="l">
              <a:lnSpc>
                <a:spcPts val="3301"/>
              </a:lnSpc>
            </a:pPr>
          </a:p>
          <a:p>
            <a:pPr algn="l">
              <a:lnSpc>
                <a:spcPts val="3301"/>
              </a:lnSpc>
            </a:pPr>
            <a:r>
              <a:rPr lang="en-US" sz="287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The modular design allows the system to be easily extended in the future.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46180" y="3948908"/>
            <a:ext cx="13995640" cy="456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82"/>
              </a:lnSpc>
            </a:pPr>
            <a:r>
              <a:rPr lang="en-US" sz="38894">
                <a:solidFill>
                  <a:srgbClr val="F7F7F7"/>
                </a:solidFill>
                <a:latin typeface="Extenda 40 Hecto"/>
                <a:ea typeface="Extenda 40 Hecto"/>
                <a:cs typeface="Extenda 40 Hecto"/>
                <a:sym typeface="Extenda 40 Hect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DAG9u1Npk1k</dc:identifier>
  <dcterms:modified xsi:type="dcterms:W3CDTF">2011-08-01T06:04:30Z</dcterms:modified>
  <cp:revision>1</cp:revision>
  <dc:title>Resume Screening and Evaluation System</dc:title>
</cp:coreProperties>
</file>