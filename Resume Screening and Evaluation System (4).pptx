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Poppins" charset="1" panose="00000500000000000000"/>
      <p:regular r:id="rId17"/>
    </p:embeddedFont>
    <p:embeddedFont>
      <p:font typeface="Extenda 40 Hecto" charset="1" panose="020B0003020200000002"/>
      <p:regular r:id="rId18"/>
    </p:embeddedFont>
    <p:embeddedFont>
      <p:font typeface="Poppins Bold" charset="1" panose="00000800000000000000"/>
      <p:regular r:id="rId19"/>
    </p:embeddedFont>
    <p:embeddedFont>
      <p:font typeface="Poppins Italics" charset="1" panose="000005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png" Type="http://schemas.openxmlformats.org/officeDocument/2006/relationships/image"/><Relationship Id="rId8"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sp>
        <p:nvSpPr>
          <p:cNvPr name="TextBox 3" id="3"/>
          <p:cNvSpPr txBox="true"/>
          <p:nvPr/>
        </p:nvSpPr>
        <p:spPr>
          <a:xfrm rot="0">
            <a:off x="11071314" y="4811989"/>
            <a:ext cx="4481246" cy="412671"/>
          </a:xfrm>
          <a:prstGeom prst="rect">
            <a:avLst/>
          </a:prstGeom>
        </p:spPr>
        <p:txBody>
          <a:bodyPr anchor="t" rtlCol="false" tIns="0" lIns="0" bIns="0" rIns="0">
            <a:spAutoFit/>
          </a:bodyPr>
          <a:lstStyle/>
          <a:p>
            <a:pPr algn="r">
              <a:lnSpc>
                <a:spcPts val="3078"/>
              </a:lnSpc>
            </a:pPr>
            <a:r>
              <a:rPr lang="en-US" sz="2523">
                <a:solidFill>
                  <a:srgbClr val="E0E0E4"/>
                </a:solidFill>
                <a:latin typeface="Poppins"/>
                <a:ea typeface="Poppins"/>
                <a:cs typeface="Poppins"/>
                <a:sym typeface="Poppins"/>
              </a:rPr>
              <a:t>USING SKILL MATCHING.</a:t>
            </a:r>
          </a:p>
        </p:txBody>
      </p:sp>
      <p:sp>
        <p:nvSpPr>
          <p:cNvPr name="TextBox 4" id="4"/>
          <p:cNvSpPr txBox="true"/>
          <p:nvPr/>
        </p:nvSpPr>
        <p:spPr>
          <a:xfrm rot="0">
            <a:off x="646580" y="781050"/>
            <a:ext cx="16994840" cy="4823386"/>
          </a:xfrm>
          <a:prstGeom prst="rect">
            <a:avLst/>
          </a:prstGeom>
        </p:spPr>
        <p:txBody>
          <a:bodyPr anchor="t" rtlCol="false" tIns="0" lIns="0" bIns="0" rIns="0">
            <a:spAutoFit/>
          </a:bodyPr>
          <a:lstStyle/>
          <a:p>
            <a:pPr algn="ctr">
              <a:lnSpc>
                <a:spcPts val="17928"/>
              </a:lnSpc>
            </a:pPr>
            <a:r>
              <a:rPr lang="en-US" sz="21864">
                <a:solidFill>
                  <a:srgbClr val="E0E0E4"/>
                </a:solidFill>
                <a:latin typeface="Extenda 40 Hecto"/>
                <a:ea typeface="Extenda 40 Hecto"/>
                <a:cs typeface="Extenda 40 Hecto"/>
                <a:sym typeface="Extenda 40 Hecto"/>
              </a:rPr>
              <a:t>RESUME SCREENING AND EVALUATION SYSTEM</a:t>
            </a:r>
          </a:p>
        </p:txBody>
      </p:sp>
      <p:sp>
        <p:nvSpPr>
          <p:cNvPr name="TextBox 5" id="5"/>
          <p:cNvSpPr txBox="true"/>
          <p:nvPr/>
        </p:nvSpPr>
        <p:spPr>
          <a:xfrm rot="0">
            <a:off x="6590595" y="6375194"/>
            <a:ext cx="5106811" cy="2755840"/>
          </a:xfrm>
          <a:prstGeom prst="rect">
            <a:avLst/>
          </a:prstGeom>
        </p:spPr>
        <p:txBody>
          <a:bodyPr anchor="t" rtlCol="false" tIns="0" lIns="0" bIns="0" rIns="0">
            <a:spAutoFit/>
          </a:bodyPr>
          <a:lstStyle/>
          <a:p>
            <a:pPr algn="ctr">
              <a:lnSpc>
                <a:spcPts val="3078"/>
              </a:lnSpc>
            </a:pPr>
            <a:r>
              <a:rPr lang="en-US" b="true" sz="2523">
                <a:solidFill>
                  <a:srgbClr val="E0E0E4"/>
                </a:solidFill>
                <a:latin typeface="Poppins Bold"/>
                <a:ea typeface="Poppins Bold"/>
                <a:cs typeface="Poppins Bold"/>
                <a:sym typeface="Poppins Bold"/>
              </a:rPr>
              <a:t>DEVELOPED BY:</a:t>
            </a:r>
          </a:p>
          <a:p>
            <a:pPr algn="ctr">
              <a:lnSpc>
                <a:spcPts val="3078"/>
              </a:lnSpc>
            </a:pPr>
          </a:p>
          <a:p>
            <a:pPr algn="ctr">
              <a:lnSpc>
                <a:spcPts val="3078"/>
              </a:lnSpc>
            </a:pPr>
            <a:r>
              <a:rPr lang="en-US" sz="2523">
                <a:solidFill>
                  <a:srgbClr val="E0E0E4"/>
                </a:solidFill>
                <a:latin typeface="Poppins"/>
                <a:ea typeface="Poppins"/>
                <a:cs typeface="Poppins"/>
                <a:sym typeface="Poppins"/>
              </a:rPr>
              <a:t>N.PRADEEP - 23CSE3022</a:t>
            </a:r>
          </a:p>
          <a:p>
            <a:pPr algn="ctr">
              <a:lnSpc>
                <a:spcPts val="3078"/>
              </a:lnSpc>
            </a:pPr>
            <a:r>
              <a:rPr lang="en-US" sz="2523">
                <a:solidFill>
                  <a:srgbClr val="E0E0E4"/>
                </a:solidFill>
                <a:latin typeface="Poppins"/>
                <a:ea typeface="Poppins"/>
                <a:cs typeface="Poppins"/>
                <a:sym typeface="Poppins"/>
              </a:rPr>
              <a:t>CH.NAGATEJA - 23CSE3001</a:t>
            </a:r>
          </a:p>
          <a:p>
            <a:pPr algn="ctr">
              <a:lnSpc>
                <a:spcPts val="3078"/>
              </a:lnSpc>
            </a:pPr>
            <a:r>
              <a:rPr lang="en-US" sz="2523">
                <a:solidFill>
                  <a:srgbClr val="E0E0E4"/>
                </a:solidFill>
                <a:latin typeface="Poppins"/>
                <a:ea typeface="Poppins"/>
                <a:cs typeface="Poppins"/>
                <a:sym typeface="Poppins"/>
              </a:rPr>
              <a:t>V.VISHWAKSEN - 23CSE3030</a:t>
            </a:r>
          </a:p>
          <a:p>
            <a:pPr algn="ctr">
              <a:lnSpc>
                <a:spcPts val="3078"/>
              </a:lnSpc>
            </a:pPr>
            <a:r>
              <a:rPr lang="en-US" sz="2523">
                <a:solidFill>
                  <a:srgbClr val="E0E0E4"/>
                </a:solidFill>
                <a:latin typeface="Poppins"/>
                <a:ea typeface="Poppins"/>
                <a:cs typeface="Poppins"/>
                <a:sym typeface="Poppins"/>
              </a:rPr>
              <a:t>M.VENKATESH - 23CSE3010</a:t>
            </a:r>
          </a:p>
          <a:p>
            <a:pPr algn="ctr">
              <a:lnSpc>
                <a:spcPts val="3078"/>
              </a:lnSpc>
            </a:pPr>
            <a:r>
              <a:rPr lang="en-US" sz="2523">
                <a:solidFill>
                  <a:srgbClr val="E0E0E4"/>
                </a:solidFill>
                <a:latin typeface="Poppins"/>
                <a:ea typeface="Poppins"/>
                <a:cs typeface="Poppins"/>
                <a:sym typeface="Poppins"/>
              </a:rPr>
              <a:t>P.RISHI - 23CSE3039</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sp>
        <p:nvSpPr>
          <p:cNvPr name="TextBox 3" id="3"/>
          <p:cNvSpPr txBox="true"/>
          <p:nvPr/>
        </p:nvSpPr>
        <p:spPr>
          <a:xfrm rot="0">
            <a:off x="1028700" y="1338740"/>
            <a:ext cx="14676702" cy="2708109"/>
          </a:xfrm>
          <a:prstGeom prst="rect">
            <a:avLst/>
          </a:prstGeom>
        </p:spPr>
        <p:txBody>
          <a:bodyPr anchor="t" rtlCol="false" tIns="0" lIns="0" bIns="0" rIns="0">
            <a:spAutoFit/>
          </a:bodyPr>
          <a:lstStyle/>
          <a:p>
            <a:pPr algn="l">
              <a:lnSpc>
                <a:spcPts val="18556"/>
              </a:lnSpc>
            </a:pPr>
            <a:r>
              <a:rPr lang="en-US" sz="24742">
                <a:solidFill>
                  <a:srgbClr val="F0F0F0"/>
                </a:solidFill>
                <a:latin typeface="Extenda 40 Hecto"/>
                <a:ea typeface="Extenda 40 Hecto"/>
                <a:cs typeface="Extenda 40 Hecto"/>
                <a:sym typeface="Extenda 40 Hecto"/>
              </a:rPr>
              <a:t>ABSTRACT</a:t>
            </a:r>
          </a:p>
        </p:txBody>
      </p:sp>
      <p:sp>
        <p:nvSpPr>
          <p:cNvPr name="TextBox 4" id="4"/>
          <p:cNvSpPr txBox="true"/>
          <p:nvPr/>
        </p:nvSpPr>
        <p:spPr>
          <a:xfrm rot="0">
            <a:off x="2678277" y="4037324"/>
            <a:ext cx="12931447" cy="3840389"/>
          </a:xfrm>
          <a:prstGeom prst="rect">
            <a:avLst/>
          </a:prstGeom>
        </p:spPr>
        <p:txBody>
          <a:bodyPr anchor="t" rtlCol="false" tIns="0" lIns="0" bIns="0" rIns="0">
            <a:spAutoFit/>
          </a:bodyPr>
          <a:lstStyle/>
          <a:p>
            <a:pPr algn="just">
              <a:lnSpc>
                <a:spcPts val="3778"/>
              </a:lnSpc>
            </a:pPr>
            <a:r>
              <a:rPr lang="en-US" sz="3285">
                <a:solidFill>
                  <a:srgbClr val="FCFCFC"/>
                </a:solidFill>
                <a:latin typeface="Poppins"/>
                <a:ea typeface="Poppins"/>
                <a:cs typeface="Poppins"/>
                <a:sym typeface="Poppins"/>
              </a:rPr>
              <a:t>Recruitment involves reviewing a large number of resumes, which is often time-consuming and repetitive.</a:t>
            </a:r>
          </a:p>
          <a:p>
            <a:pPr algn="just">
              <a:lnSpc>
                <a:spcPts val="3778"/>
              </a:lnSpc>
            </a:pPr>
            <a:r>
              <a:rPr lang="en-US" sz="3285">
                <a:solidFill>
                  <a:srgbClr val="FCFCFC"/>
                </a:solidFill>
                <a:latin typeface="Poppins"/>
                <a:ea typeface="Poppins"/>
                <a:cs typeface="Poppins"/>
                <a:sym typeface="Poppins"/>
              </a:rPr>
              <a:t>This project builds a Resume Screening and Evaluation System that automatically extracts skills from resumes, compares them with job requirements, and evaluates candidates using simple rule-based logic.</a:t>
            </a:r>
          </a:p>
          <a:p>
            <a:pPr algn="just">
              <a:lnSpc>
                <a:spcPts val="3778"/>
              </a:lnSpc>
            </a:pPr>
            <a:r>
              <a:rPr lang="en-US" sz="3285">
                <a:solidFill>
                  <a:srgbClr val="FCFCFC"/>
                </a:solidFill>
                <a:latin typeface="Poppins"/>
                <a:ea typeface="Poppins"/>
                <a:cs typeface="Poppins"/>
                <a:sym typeface="Poppins"/>
              </a:rPr>
              <a:t>The system is designed with a modular structure to keep the evaluation process clear, flexible, and easy to improve.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sp>
        <p:nvSpPr>
          <p:cNvPr name="TextBox 3" id="3"/>
          <p:cNvSpPr txBox="true"/>
          <p:nvPr/>
        </p:nvSpPr>
        <p:spPr>
          <a:xfrm rot="0">
            <a:off x="480656" y="790575"/>
            <a:ext cx="16778644" cy="3445927"/>
          </a:xfrm>
          <a:prstGeom prst="rect">
            <a:avLst/>
          </a:prstGeom>
        </p:spPr>
        <p:txBody>
          <a:bodyPr anchor="t" rtlCol="false" tIns="0" lIns="0" bIns="0" rIns="0">
            <a:spAutoFit/>
          </a:bodyPr>
          <a:lstStyle/>
          <a:p>
            <a:pPr algn="l">
              <a:lnSpc>
                <a:spcPts val="25044"/>
              </a:lnSpc>
            </a:pPr>
            <a:r>
              <a:rPr lang="en-US" sz="27826">
                <a:solidFill>
                  <a:srgbClr val="FCFCFC"/>
                </a:solidFill>
                <a:latin typeface="Extenda 40 Hecto"/>
                <a:ea typeface="Extenda 40 Hecto"/>
                <a:cs typeface="Extenda 40 Hecto"/>
                <a:sym typeface="Extenda 40 Hecto"/>
              </a:rPr>
              <a:t>PROBLEM DEFINITION</a:t>
            </a:r>
          </a:p>
        </p:txBody>
      </p:sp>
      <p:sp>
        <p:nvSpPr>
          <p:cNvPr name="TextBox 4" id="4"/>
          <p:cNvSpPr txBox="true"/>
          <p:nvPr/>
        </p:nvSpPr>
        <p:spPr>
          <a:xfrm rot="0">
            <a:off x="1028700" y="3824599"/>
            <a:ext cx="12091634" cy="6306009"/>
          </a:xfrm>
          <a:prstGeom prst="rect">
            <a:avLst/>
          </a:prstGeom>
        </p:spPr>
        <p:txBody>
          <a:bodyPr anchor="t" rtlCol="false" tIns="0" lIns="0" bIns="0" rIns="0">
            <a:spAutoFit/>
          </a:bodyPr>
          <a:lstStyle/>
          <a:p>
            <a:pPr algn="l">
              <a:lnSpc>
                <a:spcPts val="3533"/>
              </a:lnSpc>
            </a:pPr>
            <a:r>
              <a:rPr lang="en-US" sz="3072">
                <a:solidFill>
                  <a:srgbClr val="FCFCFC"/>
                </a:solidFill>
                <a:latin typeface="Poppins"/>
                <a:ea typeface="Poppins"/>
                <a:cs typeface="Poppins"/>
                <a:sym typeface="Poppins"/>
              </a:rPr>
              <a:t>Organizations receive many resumes for a single job role.</a:t>
            </a:r>
          </a:p>
          <a:p>
            <a:pPr algn="l">
              <a:lnSpc>
                <a:spcPts val="3533"/>
              </a:lnSpc>
            </a:pPr>
            <a:r>
              <a:rPr lang="en-US" sz="3072">
                <a:solidFill>
                  <a:srgbClr val="FCFCFC"/>
                </a:solidFill>
                <a:latin typeface="Poppins"/>
                <a:ea typeface="Poppins"/>
                <a:cs typeface="Poppins"/>
                <a:sym typeface="Poppins"/>
              </a:rPr>
              <a:t> Manually reviewing each resume takes time and can lead to inconsistent decisions.</a:t>
            </a:r>
          </a:p>
          <a:p>
            <a:pPr algn="l">
              <a:lnSpc>
                <a:spcPts val="3533"/>
              </a:lnSpc>
            </a:pPr>
          </a:p>
          <a:p>
            <a:pPr algn="l">
              <a:lnSpc>
                <a:spcPts val="3533"/>
              </a:lnSpc>
            </a:pPr>
            <a:r>
              <a:rPr lang="en-US" sz="3072" b="true">
                <a:solidFill>
                  <a:srgbClr val="FCFCFC"/>
                </a:solidFill>
                <a:latin typeface="Poppins Bold"/>
                <a:ea typeface="Poppins Bold"/>
                <a:cs typeface="Poppins Bold"/>
                <a:sym typeface="Poppins Bold"/>
              </a:rPr>
              <a:t>Main Problems:</a:t>
            </a:r>
          </a:p>
          <a:p>
            <a:pPr algn="l" marL="663316" indent="-331658" lvl="1">
              <a:lnSpc>
                <a:spcPts val="3533"/>
              </a:lnSpc>
              <a:buFont typeface="Arial"/>
              <a:buChar char="•"/>
            </a:pPr>
            <a:r>
              <a:rPr lang="en-US" sz="3072">
                <a:solidFill>
                  <a:srgbClr val="FCFCFC"/>
                </a:solidFill>
                <a:latin typeface="Poppins"/>
                <a:ea typeface="Poppins"/>
                <a:cs typeface="Poppins"/>
                <a:sym typeface="Poppins"/>
              </a:rPr>
              <a:t>Manual screening is slow</a:t>
            </a:r>
          </a:p>
          <a:p>
            <a:pPr algn="l" marL="663316" indent="-331658" lvl="1">
              <a:lnSpc>
                <a:spcPts val="3533"/>
              </a:lnSpc>
              <a:buFont typeface="Arial"/>
              <a:buChar char="•"/>
            </a:pPr>
            <a:r>
              <a:rPr lang="en-US" sz="3072">
                <a:solidFill>
                  <a:srgbClr val="FCFCFC"/>
                </a:solidFill>
                <a:latin typeface="Poppins"/>
                <a:ea typeface="Poppins"/>
                <a:cs typeface="Poppins"/>
                <a:sym typeface="Poppins"/>
              </a:rPr>
              <a:t>Difficult to compare candidates fairly</a:t>
            </a:r>
          </a:p>
          <a:p>
            <a:pPr algn="l" marL="663316" indent="-331658" lvl="1">
              <a:lnSpc>
                <a:spcPts val="3533"/>
              </a:lnSpc>
              <a:buFont typeface="Arial"/>
              <a:buChar char="•"/>
            </a:pPr>
            <a:r>
              <a:rPr lang="en-US" sz="3072">
                <a:solidFill>
                  <a:srgbClr val="FCFCFC"/>
                </a:solidFill>
                <a:latin typeface="Poppins"/>
                <a:ea typeface="Poppins"/>
                <a:cs typeface="Poppins"/>
                <a:sym typeface="Poppins"/>
              </a:rPr>
              <a:t>No structured evaluation method</a:t>
            </a:r>
          </a:p>
          <a:p>
            <a:pPr algn="l">
              <a:lnSpc>
                <a:spcPts val="3533"/>
              </a:lnSpc>
            </a:pPr>
          </a:p>
          <a:p>
            <a:pPr algn="l">
              <a:lnSpc>
                <a:spcPts val="3533"/>
              </a:lnSpc>
            </a:pPr>
          </a:p>
          <a:p>
            <a:pPr algn="l">
              <a:lnSpc>
                <a:spcPts val="3533"/>
              </a:lnSpc>
            </a:pPr>
            <a:r>
              <a:rPr lang="en-US" sz="3072" b="true">
                <a:solidFill>
                  <a:srgbClr val="FCFCFC"/>
                </a:solidFill>
                <a:latin typeface="Poppins Bold"/>
                <a:ea typeface="Poppins Bold"/>
                <a:cs typeface="Poppins Bold"/>
                <a:sym typeface="Poppins Bold"/>
              </a:rPr>
              <a:t>Problem Statement:</a:t>
            </a:r>
          </a:p>
          <a:p>
            <a:pPr algn="l">
              <a:lnSpc>
                <a:spcPts val="3533"/>
              </a:lnSpc>
            </a:pPr>
            <a:r>
              <a:rPr lang="en-US" sz="3072">
                <a:solidFill>
                  <a:srgbClr val="FCFCFC"/>
                </a:solidFill>
                <a:latin typeface="Poppins"/>
                <a:ea typeface="Poppins"/>
                <a:cs typeface="Poppins"/>
                <a:sym typeface="Poppins"/>
              </a:rPr>
              <a:t> There is a need for an automated system to screen and evaluate resumes efficiently and consistently.</a:t>
            </a:r>
          </a:p>
          <a:p>
            <a:pPr algn="l">
              <a:lnSpc>
                <a:spcPts val="3533"/>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0">
            <a:off x="640499" y="681164"/>
            <a:ext cx="17945350" cy="8580438"/>
            <a:chOff x="0" y="0"/>
            <a:chExt cx="23927133" cy="11440584"/>
          </a:xfrm>
        </p:grpSpPr>
        <p:sp>
          <p:nvSpPr>
            <p:cNvPr name="TextBox 4" id="4"/>
            <p:cNvSpPr txBox="true"/>
            <p:nvPr/>
          </p:nvSpPr>
          <p:spPr>
            <a:xfrm rot="0">
              <a:off x="0" y="638175"/>
              <a:ext cx="23927133" cy="3244590"/>
            </a:xfrm>
            <a:prstGeom prst="rect">
              <a:avLst/>
            </a:prstGeom>
          </p:spPr>
          <p:txBody>
            <a:bodyPr anchor="t" rtlCol="false" tIns="0" lIns="0" bIns="0" rIns="0">
              <a:spAutoFit/>
            </a:bodyPr>
            <a:lstStyle/>
            <a:p>
              <a:pPr algn="l">
                <a:lnSpc>
                  <a:spcPts val="16260"/>
                </a:lnSpc>
              </a:pPr>
              <a:r>
                <a:rPr lang="en-US" sz="19130">
                  <a:solidFill>
                    <a:srgbClr val="FCFCFC"/>
                  </a:solidFill>
                  <a:latin typeface="Extenda 40 Hecto"/>
                  <a:ea typeface="Extenda 40 Hecto"/>
                  <a:cs typeface="Extenda 40 Hecto"/>
                  <a:sym typeface="Extenda 40 Hecto"/>
                </a:rPr>
                <a:t>LITERATURE SURVEY SUMMARY</a:t>
              </a:r>
            </a:p>
          </p:txBody>
        </p:sp>
        <p:sp>
          <p:nvSpPr>
            <p:cNvPr name="TextBox 5" id="5"/>
            <p:cNvSpPr txBox="true"/>
            <p:nvPr/>
          </p:nvSpPr>
          <p:spPr>
            <a:xfrm rot="0">
              <a:off x="841969" y="4268205"/>
              <a:ext cx="19587519" cy="7172379"/>
            </a:xfrm>
            <a:prstGeom prst="rect">
              <a:avLst/>
            </a:prstGeom>
          </p:spPr>
          <p:txBody>
            <a:bodyPr anchor="t" rtlCol="false" tIns="0" lIns="0" bIns="0" rIns="0">
              <a:spAutoFit/>
            </a:bodyPr>
            <a:lstStyle/>
            <a:p>
              <a:pPr algn="l">
                <a:lnSpc>
                  <a:spcPts val="3888"/>
                </a:lnSpc>
              </a:pPr>
              <a:r>
                <a:rPr lang="en-US" sz="3381" b="true">
                  <a:solidFill>
                    <a:srgbClr val="FCFCFC"/>
                  </a:solidFill>
                  <a:latin typeface="Poppins Bold"/>
                  <a:ea typeface="Poppins Bold"/>
                  <a:cs typeface="Poppins Bold"/>
                  <a:sym typeface="Poppins Bold"/>
                </a:rPr>
                <a:t>From studying existing recruitment systems:</a:t>
              </a:r>
            </a:p>
            <a:p>
              <a:pPr algn="l">
                <a:lnSpc>
                  <a:spcPts val="3888"/>
                </a:lnSpc>
              </a:pPr>
            </a:p>
            <a:p>
              <a:pPr algn="l" marL="730039" indent="-365019" lvl="1">
                <a:lnSpc>
                  <a:spcPts val="3888"/>
                </a:lnSpc>
                <a:buFont typeface="Arial"/>
                <a:buChar char="•"/>
              </a:pPr>
              <a:r>
                <a:rPr lang="en-US" sz="3381">
                  <a:solidFill>
                    <a:srgbClr val="FCFCFC"/>
                  </a:solidFill>
                  <a:latin typeface="Poppins"/>
                  <a:ea typeface="Poppins"/>
                  <a:cs typeface="Poppins"/>
                  <a:sym typeface="Poppins"/>
                </a:rPr>
                <a:t>Most screening is done manually or with basic keyword tools</a:t>
              </a:r>
            </a:p>
            <a:p>
              <a:pPr algn="l" marL="730039" indent="-365019" lvl="1">
                <a:lnSpc>
                  <a:spcPts val="3888"/>
                </a:lnSpc>
                <a:buFont typeface="Arial"/>
                <a:buChar char="•"/>
              </a:pPr>
              <a:r>
                <a:rPr lang="en-US" sz="3381">
                  <a:solidFill>
                    <a:srgbClr val="FCFCFC"/>
                  </a:solidFill>
                  <a:latin typeface="Poppins"/>
                  <a:ea typeface="Poppins"/>
                  <a:cs typeface="Poppins"/>
                  <a:sym typeface="Poppins"/>
                </a:rPr>
                <a:t>Advanced systems are costly and complex</a:t>
              </a:r>
            </a:p>
            <a:p>
              <a:pPr algn="l" marL="730039" indent="-365019" lvl="1">
                <a:lnSpc>
                  <a:spcPts val="3888"/>
                </a:lnSpc>
                <a:buFont typeface="Arial"/>
                <a:buChar char="•"/>
              </a:pPr>
              <a:r>
                <a:rPr lang="en-US" sz="3381">
                  <a:solidFill>
                    <a:srgbClr val="FCFCFC"/>
                  </a:solidFill>
                  <a:latin typeface="Poppins"/>
                  <a:ea typeface="Poppins"/>
                  <a:cs typeface="Poppins"/>
                  <a:sym typeface="Poppins"/>
                </a:rPr>
                <a:t>Simple rule-based evaluation is rarely implemented clearly</a:t>
              </a:r>
            </a:p>
            <a:p>
              <a:pPr algn="l">
                <a:lnSpc>
                  <a:spcPts val="3888"/>
                </a:lnSpc>
              </a:pPr>
            </a:p>
            <a:p>
              <a:pPr algn="l">
                <a:lnSpc>
                  <a:spcPts val="3888"/>
                </a:lnSpc>
              </a:pPr>
            </a:p>
            <a:p>
              <a:pPr algn="l">
                <a:lnSpc>
                  <a:spcPts val="3888"/>
                </a:lnSpc>
              </a:pPr>
              <a:r>
                <a:rPr lang="en-US" sz="3381" b="true">
                  <a:solidFill>
                    <a:srgbClr val="FCFCFC"/>
                  </a:solidFill>
                  <a:latin typeface="Poppins Bold"/>
                  <a:ea typeface="Poppins Bold"/>
                  <a:cs typeface="Poppins Bold"/>
                  <a:sym typeface="Poppins Bold"/>
                </a:rPr>
                <a:t>Observation:</a:t>
              </a:r>
            </a:p>
            <a:p>
              <a:pPr algn="l">
                <a:lnSpc>
                  <a:spcPts val="3888"/>
                </a:lnSpc>
              </a:pPr>
              <a:r>
                <a:rPr lang="en-US" sz="3381">
                  <a:solidFill>
                    <a:srgbClr val="FCFCFC"/>
                  </a:solidFill>
                  <a:latin typeface="Poppins"/>
                  <a:ea typeface="Poppins"/>
                  <a:cs typeface="Poppins"/>
                  <a:sym typeface="Poppins"/>
                </a:rPr>
                <a:t> There is scope for a lightweight and structured resume evaluation system suitable for academic and small-scale use.</a:t>
              </a:r>
            </a:p>
            <a:p>
              <a:pPr algn="l">
                <a:lnSpc>
                  <a:spcPts val="3888"/>
                </a:lnSpc>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sp>
        <p:nvSpPr>
          <p:cNvPr name="TextBox 3" id="3"/>
          <p:cNvSpPr txBox="true"/>
          <p:nvPr/>
        </p:nvSpPr>
        <p:spPr>
          <a:xfrm rot="0">
            <a:off x="1028700" y="1071628"/>
            <a:ext cx="14094735" cy="2701152"/>
          </a:xfrm>
          <a:prstGeom prst="rect">
            <a:avLst/>
          </a:prstGeom>
        </p:spPr>
        <p:txBody>
          <a:bodyPr anchor="t" rtlCol="false" tIns="0" lIns="0" bIns="0" rIns="0">
            <a:spAutoFit/>
          </a:bodyPr>
          <a:lstStyle/>
          <a:p>
            <a:pPr algn="l">
              <a:lnSpc>
                <a:spcPts val="19231"/>
              </a:lnSpc>
            </a:pPr>
            <a:r>
              <a:rPr lang="en-US" sz="22625">
                <a:solidFill>
                  <a:srgbClr val="FCFCFC"/>
                </a:solidFill>
                <a:latin typeface="Extenda 40 Hecto"/>
                <a:ea typeface="Extenda 40 Hecto"/>
                <a:cs typeface="Extenda 40 Hecto"/>
                <a:sym typeface="Extenda 40 Hecto"/>
              </a:rPr>
              <a:t>PROPOSED SOLUTION </a:t>
            </a:r>
          </a:p>
        </p:txBody>
      </p:sp>
      <p:sp>
        <p:nvSpPr>
          <p:cNvPr name="TextBox 4" id="4"/>
          <p:cNvSpPr txBox="true"/>
          <p:nvPr/>
        </p:nvSpPr>
        <p:spPr>
          <a:xfrm rot="0">
            <a:off x="1271975" y="3516926"/>
            <a:ext cx="8115300" cy="1127938"/>
          </a:xfrm>
          <a:prstGeom prst="rect">
            <a:avLst/>
          </a:prstGeom>
        </p:spPr>
        <p:txBody>
          <a:bodyPr anchor="t" rtlCol="false" tIns="0" lIns="0" bIns="0" rIns="0">
            <a:spAutoFit/>
          </a:bodyPr>
          <a:lstStyle/>
          <a:p>
            <a:pPr algn="l">
              <a:lnSpc>
                <a:spcPts val="2971"/>
              </a:lnSpc>
            </a:pPr>
            <a:r>
              <a:rPr lang="en-US" sz="2583">
                <a:solidFill>
                  <a:srgbClr val="FCFCFC"/>
                </a:solidFill>
                <a:latin typeface="Poppins"/>
                <a:ea typeface="Poppins"/>
                <a:cs typeface="Poppins"/>
                <a:sym typeface="Poppins"/>
              </a:rPr>
              <a:t>The proposed system automates resume screening using skill matching.</a:t>
            </a:r>
          </a:p>
          <a:p>
            <a:pPr algn="l">
              <a:lnSpc>
                <a:spcPts val="2971"/>
              </a:lnSpc>
            </a:pPr>
          </a:p>
        </p:txBody>
      </p:sp>
      <p:sp>
        <p:nvSpPr>
          <p:cNvPr name="TextBox 5" id="5"/>
          <p:cNvSpPr txBox="true"/>
          <p:nvPr/>
        </p:nvSpPr>
        <p:spPr>
          <a:xfrm rot="0">
            <a:off x="1271975" y="4625814"/>
            <a:ext cx="4714353" cy="1823760"/>
          </a:xfrm>
          <a:prstGeom prst="rect">
            <a:avLst/>
          </a:prstGeom>
        </p:spPr>
        <p:txBody>
          <a:bodyPr anchor="t" rtlCol="false" tIns="0" lIns="0" bIns="0" rIns="0">
            <a:spAutoFit/>
          </a:bodyPr>
          <a:lstStyle/>
          <a:p>
            <a:pPr algn="l">
              <a:lnSpc>
                <a:spcPts val="4742"/>
              </a:lnSpc>
            </a:pPr>
            <a:r>
              <a:rPr lang="en-US" sz="4123" b="true">
                <a:solidFill>
                  <a:srgbClr val="FCFCFC"/>
                </a:solidFill>
                <a:latin typeface="Poppins Bold"/>
                <a:ea typeface="Poppins Bold"/>
                <a:cs typeface="Poppins Bold"/>
                <a:sym typeface="Poppins Bold"/>
              </a:rPr>
              <a:t>Key Features:</a:t>
            </a:r>
          </a:p>
          <a:p>
            <a:pPr algn="l">
              <a:lnSpc>
                <a:spcPts val="4742"/>
              </a:lnSpc>
            </a:pPr>
          </a:p>
          <a:p>
            <a:pPr algn="l">
              <a:lnSpc>
                <a:spcPts val="4742"/>
              </a:lnSpc>
            </a:pPr>
          </a:p>
        </p:txBody>
      </p:sp>
      <p:sp>
        <p:nvSpPr>
          <p:cNvPr name="TextBox 6" id="6"/>
          <p:cNvSpPr txBox="true"/>
          <p:nvPr/>
        </p:nvSpPr>
        <p:spPr>
          <a:xfrm rot="0">
            <a:off x="1271975" y="5390827"/>
            <a:ext cx="14631601" cy="3359682"/>
          </a:xfrm>
          <a:prstGeom prst="rect">
            <a:avLst/>
          </a:prstGeom>
        </p:spPr>
        <p:txBody>
          <a:bodyPr anchor="t" rtlCol="false" tIns="0" lIns="0" bIns="0" rIns="0">
            <a:spAutoFit/>
          </a:bodyPr>
          <a:lstStyle/>
          <a:p>
            <a:pPr algn="l" marL="557854" indent="-278927" lvl="1">
              <a:lnSpc>
                <a:spcPts val="2971"/>
              </a:lnSpc>
              <a:buFont typeface="Arial"/>
              <a:buChar char="•"/>
            </a:pPr>
            <a:r>
              <a:rPr lang="en-US" sz="2583">
                <a:solidFill>
                  <a:srgbClr val="FCFCFC"/>
                </a:solidFill>
                <a:latin typeface="Poppins"/>
                <a:ea typeface="Poppins"/>
                <a:cs typeface="Poppins"/>
                <a:sym typeface="Poppins"/>
              </a:rPr>
              <a:t>Extracts skills from resumes</a:t>
            </a:r>
          </a:p>
          <a:p>
            <a:pPr algn="l" marL="557854" indent="-278927" lvl="1">
              <a:lnSpc>
                <a:spcPts val="2971"/>
              </a:lnSpc>
              <a:buFont typeface="Arial"/>
              <a:buChar char="•"/>
            </a:pPr>
            <a:r>
              <a:rPr lang="en-US" sz="2583">
                <a:solidFill>
                  <a:srgbClr val="FCFCFC"/>
                </a:solidFill>
                <a:latin typeface="Poppins"/>
                <a:ea typeface="Poppins"/>
                <a:cs typeface="Poppins"/>
                <a:sym typeface="Poppins"/>
              </a:rPr>
              <a:t>Matches skills with job requirements</a:t>
            </a:r>
          </a:p>
          <a:p>
            <a:pPr algn="l" marL="557854" indent="-278927" lvl="1">
              <a:lnSpc>
                <a:spcPts val="2971"/>
              </a:lnSpc>
              <a:buFont typeface="Arial"/>
              <a:buChar char="•"/>
            </a:pPr>
            <a:r>
              <a:rPr lang="en-US" sz="2583">
                <a:solidFill>
                  <a:srgbClr val="FCFCFC"/>
                </a:solidFill>
                <a:latin typeface="Poppins"/>
                <a:ea typeface="Poppins"/>
                <a:cs typeface="Poppins"/>
                <a:sym typeface="Poppins"/>
              </a:rPr>
              <a:t>Applies weighted scoring</a:t>
            </a:r>
          </a:p>
          <a:p>
            <a:pPr algn="l" marL="557854" indent="-278927" lvl="1">
              <a:lnSpc>
                <a:spcPts val="2971"/>
              </a:lnSpc>
              <a:buFont typeface="Arial"/>
              <a:buChar char="•"/>
            </a:pPr>
            <a:r>
              <a:rPr lang="en-US" sz="2583">
                <a:solidFill>
                  <a:srgbClr val="FCFCFC"/>
                </a:solidFill>
                <a:latin typeface="Poppins"/>
                <a:ea typeface="Poppins"/>
                <a:cs typeface="Poppins"/>
                <a:sym typeface="Poppins"/>
              </a:rPr>
              <a:t>Classifies candidates based on suitability</a:t>
            </a:r>
          </a:p>
          <a:p>
            <a:pPr algn="l">
              <a:lnSpc>
                <a:spcPts val="2971"/>
              </a:lnSpc>
            </a:pPr>
          </a:p>
          <a:p>
            <a:pPr algn="l">
              <a:lnSpc>
                <a:spcPts val="2971"/>
              </a:lnSpc>
            </a:pPr>
            <a:r>
              <a:rPr lang="en-US" sz="2583" b="true">
                <a:solidFill>
                  <a:srgbClr val="FCFCFC"/>
                </a:solidFill>
                <a:latin typeface="Poppins Bold"/>
                <a:ea typeface="Poppins Bold"/>
                <a:cs typeface="Poppins Bold"/>
                <a:sym typeface="Poppins Bold"/>
              </a:rPr>
              <a:t> Additional features:</a:t>
            </a:r>
          </a:p>
          <a:p>
            <a:pPr algn="l">
              <a:lnSpc>
                <a:spcPts val="2971"/>
              </a:lnSpc>
            </a:pPr>
          </a:p>
          <a:p>
            <a:pPr algn="l" marL="557854" indent="-278927" lvl="1">
              <a:lnSpc>
                <a:spcPts val="2971"/>
              </a:lnSpc>
              <a:buFont typeface="Arial"/>
              <a:buChar char="•"/>
            </a:pPr>
            <a:r>
              <a:rPr lang="en-US" sz="2583" i="true" u="sng">
                <a:solidFill>
                  <a:srgbClr val="FCFCFC"/>
                </a:solidFill>
                <a:latin typeface="Poppins Italics"/>
                <a:ea typeface="Poppins Italics"/>
                <a:cs typeface="Poppins Italics"/>
                <a:sym typeface="Poppins Italics"/>
              </a:rPr>
              <a:t>Skill gap analyzer and learning recommendation, Bias reduction module.</a:t>
            </a:r>
          </a:p>
          <a:p>
            <a:pPr algn="l">
              <a:lnSpc>
                <a:spcPts val="2971"/>
              </a:lnSpc>
            </a:pPr>
          </a:p>
        </p:txBody>
      </p:sp>
      <p:sp>
        <p:nvSpPr>
          <p:cNvPr name="TextBox 7" id="7"/>
          <p:cNvSpPr txBox="true"/>
          <p:nvPr/>
        </p:nvSpPr>
        <p:spPr>
          <a:xfrm rot="0">
            <a:off x="1271975" y="8498943"/>
            <a:ext cx="14631601" cy="1130832"/>
          </a:xfrm>
          <a:prstGeom prst="rect">
            <a:avLst/>
          </a:prstGeom>
        </p:spPr>
        <p:txBody>
          <a:bodyPr anchor="t" rtlCol="false" tIns="0" lIns="0" bIns="0" rIns="0">
            <a:spAutoFit/>
          </a:bodyPr>
          <a:lstStyle/>
          <a:p>
            <a:pPr algn="l">
              <a:lnSpc>
                <a:spcPts val="2971"/>
              </a:lnSpc>
            </a:pPr>
            <a:r>
              <a:rPr lang="en-US" sz="2583">
                <a:solidFill>
                  <a:srgbClr val="FCFCFC"/>
                </a:solidFill>
                <a:latin typeface="Poppins"/>
                <a:ea typeface="Poppins"/>
                <a:cs typeface="Poppins"/>
                <a:sym typeface="Poppins"/>
              </a:rPr>
              <a:t> </a:t>
            </a:r>
          </a:p>
          <a:p>
            <a:pPr algn="l">
              <a:lnSpc>
                <a:spcPts val="2971"/>
              </a:lnSpc>
            </a:pPr>
            <a:r>
              <a:rPr lang="en-US" sz="2583">
                <a:solidFill>
                  <a:srgbClr val="FCFCFC"/>
                </a:solidFill>
                <a:latin typeface="Poppins"/>
                <a:ea typeface="Poppins"/>
                <a:cs typeface="Poppins"/>
                <a:sym typeface="Poppins"/>
              </a:rPr>
              <a:t> </a:t>
            </a:r>
            <a:r>
              <a:rPr lang="en-US" sz="2583" b="true">
                <a:solidFill>
                  <a:srgbClr val="FCFCFC"/>
                </a:solidFill>
                <a:latin typeface="Poppins Bold"/>
                <a:ea typeface="Poppins Bold"/>
                <a:cs typeface="Poppins Bold"/>
                <a:sym typeface="Poppins Bold"/>
              </a:rPr>
              <a:t>Benefit</a:t>
            </a:r>
            <a:r>
              <a:rPr lang="en-US" sz="2583">
                <a:solidFill>
                  <a:srgbClr val="FCFCFC"/>
                </a:solidFill>
                <a:latin typeface="Poppins"/>
                <a:ea typeface="Poppins"/>
                <a:cs typeface="Poppins"/>
                <a:sym typeface="Poppins"/>
              </a:rPr>
              <a:t>:</a:t>
            </a:r>
          </a:p>
          <a:p>
            <a:pPr algn="l">
              <a:lnSpc>
                <a:spcPts val="2971"/>
              </a:lnSpc>
            </a:pPr>
            <a:r>
              <a:rPr lang="en-US" sz="2583">
                <a:solidFill>
                  <a:srgbClr val="FCFCFC"/>
                </a:solidFill>
                <a:latin typeface="Poppins"/>
                <a:ea typeface="Poppins"/>
                <a:cs typeface="Poppins"/>
                <a:sym typeface="Poppins"/>
              </a:rPr>
              <a:t> Reduces manual effort and improves consistency in resume evaluation.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0">
            <a:off x="418962" y="-195136"/>
            <a:ext cx="17990676" cy="10126487"/>
            <a:chOff x="0" y="0"/>
            <a:chExt cx="23987568" cy="13501982"/>
          </a:xfrm>
        </p:grpSpPr>
        <p:sp>
          <p:nvSpPr>
            <p:cNvPr name="TextBox 4" id="4"/>
            <p:cNvSpPr txBox="true"/>
            <p:nvPr/>
          </p:nvSpPr>
          <p:spPr>
            <a:xfrm rot="0">
              <a:off x="0" y="733425"/>
              <a:ext cx="23987568" cy="4545229"/>
            </a:xfrm>
            <a:prstGeom prst="rect">
              <a:avLst/>
            </a:prstGeom>
          </p:spPr>
          <p:txBody>
            <a:bodyPr anchor="t" rtlCol="false" tIns="0" lIns="0" bIns="0" rIns="0">
              <a:spAutoFit/>
            </a:bodyPr>
            <a:lstStyle/>
            <a:p>
              <a:pPr algn="l">
                <a:lnSpc>
                  <a:spcPts val="23403"/>
                </a:lnSpc>
              </a:pPr>
              <a:r>
                <a:rPr lang="en-US" sz="26003">
                  <a:solidFill>
                    <a:srgbClr val="FCFCFC"/>
                  </a:solidFill>
                  <a:latin typeface="Extenda 40 Hecto"/>
                  <a:ea typeface="Extenda 40 Hecto"/>
                  <a:cs typeface="Extenda 40 Hecto"/>
                  <a:sym typeface="Extenda 40 Hecto"/>
                </a:rPr>
                <a:t>ADDITIONAL FEATURES</a:t>
              </a:r>
            </a:p>
          </p:txBody>
        </p:sp>
        <p:sp>
          <p:nvSpPr>
            <p:cNvPr name="TextBox 5" id="5"/>
            <p:cNvSpPr txBox="true"/>
            <p:nvPr/>
          </p:nvSpPr>
          <p:spPr>
            <a:xfrm rot="0">
              <a:off x="1479566" y="4503420"/>
              <a:ext cx="19782892" cy="8998562"/>
            </a:xfrm>
            <a:prstGeom prst="rect">
              <a:avLst/>
            </a:prstGeom>
          </p:spPr>
          <p:txBody>
            <a:bodyPr anchor="t" rtlCol="false" tIns="0" lIns="0" bIns="0" rIns="0">
              <a:spAutoFit/>
            </a:bodyPr>
            <a:lstStyle/>
            <a:p>
              <a:pPr algn="l">
                <a:lnSpc>
                  <a:spcPts val="3533"/>
                </a:lnSpc>
              </a:pPr>
            </a:p>
            <a:p>
              <a:pPr algn="l">
                <a:lnSpc>
                  <a:spcPts val="3533"/>
                </a:lnSpc>
              </a:pPr>
              <a:r>
                <a:rPr lang="en-US" sz="3072" b="true">
                  <a:solidFill>
                    <a:srgbClr val="FCFCFC"/>
                  </a:solidFill>
                  <a:latin typeface="Poppins Bold"/>
                  <a:ea typeface="Poppins Bold"/>
                  <a:cs typeface="Poppins Bold"/>
                  <a:sym typeface="Poppins Bold"/>
                </a:rPr>
                <a:t>1. Skill Gap Analyzer &amp; Learning Recommendation</a:t>
              </a:r>
            </a:p>
            <a:p>
              <a:pPr algn="l">
                <a:lnSpc>
                  <a:spcPts val="3533"/>
                </a:lnSpc>
              </a:pPr>
            </a:p>
            <a:p>
              <a:pPr algn="l">
                <a:lnSpc>
                  <a:spcPts val="3533"/>
                </a:lnSpc>
              </a:pPr>
              <a:r>
                <a:rPr lang="en-US" sz="3072">
                  <a:solidFill>
                    <a:srgbClr val="FCFCFC"/>
                  </a:solidFill>
                  <a:latin typeface="Poppins"/>
                  <a:ea typeface="Poppins"/>
                  <a:cs typeface="Poppins"/>
                  <a:sym typeface="Poppins"/>
                </a:rPr>
                <a:t>This feature identifies missing skills by comparing a candidate’s resume with job requirements. It highlights skill gaps and suggests relevant skills or learning areas for improvement. This helps candidates understand what they need to learn to better match specific job roles.</a:t>
              </a:r>
            </a:p>
            <a:p>
              <a:pPr algn="l">
                <a:lnSpc>
                  <a:spcPts val="3533"/>
                </a:lnSpc>
              </a:pPr>
            </a:p>
            <a:p>
              <a:pPr algn="l">
                <a:lnSpc>
                  <a:spcPts val="3533"/>
                </a:lnSpc>
              </a:pPr>
              <a:r>
                <a:rPr lang="en-US" sz="3072" b="true">
                  <a:solidFill>
                    <a:srgbClr val="FCFCFC"/>
                  </a:solidFill>
                  <a:latin typeface="Poppins Bold"/>
                  <a:ea typeface="Poppins Bold"/>
                  <a:cs typeface="Poppins Bold"/>
                  <a:sym typeface="Poppins Bold"/>
                </a:rPr>
                <a:t>2. Bias Reduction Module</a:t>
              </a:r>
            </a:p>
            <a:p>
              <a:pPr algn="l">
                <a:lnSpc>
                  <a:spcPts val="3533"/>
                </a:lnSpc>
              </a:pPr>
            </a:p>
            <a:p>
              <a:pPr algn="l">
                <a:lnSpc>
                  <a:spcPts val="3533"/>
                </a:lnSpc>
              </a:pPr>
              <a:r>
                <a:rPr lang="en-US" sz="3072">
                  <a:solidFill>
                    <a:srgbClr val="FCFCFC"/>
                  </a:solidFill>
                  <a:latin typeface="Poppins"/>
                  <a:ea typeface="Poppins"/>
                  <a:cs typeface="Poppins"/>
                  <a:sym typeface="Poppins"/>
                </a:rPr>
                <a:t>This module reduces bias during evaluation by focusing only on skill-based criteria. Personal details such as name, age, or background are ignored during scoring, ensuring fair and consistent candidate assessment based purely on skills and job relevance.</a:t>
              </a:r>
            </a:p>
            <a:p>
              <a:pPr algn="l">
                <a:lnSpc>
                  <a:spcPts val="3533"/>
                </a:lnSpc>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0">
            <a:off x="297324" y="-212513"/>
            <a:ext cx="17990676" cy="9470813"/>
            <a:chOff x="0" y="0"/>
            <a:chExt cx="23987568" cy="12627751"/>
          </a:xfrm>
        </p:grpSpPr>
        <p:sp>
          <p:nvSpPr>
            <p:cNvPr name="Freeform 4" id="4"/>
            <p:cNvSpPr/>
            <p:nvPr/>
          </p:nvSpPr>
          <p:spPr>
            <a:xfrm flipH="false" flipV="false" rot="0">
              <a:off x="4162042" y="4691539"/>
              <a:ext cx="15267053" cy="7936212"/>
            </a:xfrm>
            <a:custGeom>
              <a:avLst/>
              <a:gdLst/>
              <a:ahLst/>
              <a:cxnLst/>
              <a:rect r="r" b="b" t="t" l="l"/>
              <a:pathLst>
                <a:path h="7936212" w="15267053">
                  <a:moveTo>
                    <a:pt x="0" y="0"/>
                  </a:moveTo>
                  <a:lnTo>
                    <a:pt x="15267052" y="0"/>
                  </a:lnTo>
                  <a:lnTo>
                    <a:pt x="15267052" y="7936212"/>
                  </a:lnTo>
                  <a:lnTo>
                    <a:pt x="0" y="7936212"/>
                  </a:lnTo>
                  <a:lnTo>
                    <a:pt x="0" y="0"/>
                  </a:lnTo>
                  <a:close/>
                </a:path>
              </a:pathLst>
            </a:custGeom>
            <a:blipFill>
              <a:blip r:embed="rId3"/>
              <a:stretch>
                <a:fillRect l="0" t="-8155" r="-14447" b="0"/>
              </a:stretch>
            </a:blipFill>
          </p:spPr>
        </p:sp>
        <p:sp>
          <p:nvSpPr>
            <p:cNvPr name="TextBox 5" id="5"/>
            <p:cNvSpPr txBox="true"/>
            <p:nvPr/>
          </p:nvSpPr>
          <p:spPr>
            <a:xfrm rot="0">
              <a:off x="0" y="733425"/>
              <a:ext cx="23987568" cy="4545229"/>
            </a:xfrm>
            <a:prstGeom prst="rect">
              <a:avLst/>
            </a:prstGeom>
          </p:spPr>
          <p:txBody>
            <a:bodyPr anchor="t" rtlCol="false" tIns="0" lIns="0" bIns="0" rIns="0">
              <a:spAutoFit/>
            </a:bodyPr>
            <a:lstStyle/>
            <a:p>
              <a:pPr algn="l">
                <a:lnSpc>
                  <a:spcPts val="23403"/>
                </a:lnSpc>
              </a:pPr>
              <a:r>
                <a:rPr lang="en-US" sz="26003">
                  <a:solidFill>
                    <a:srgbClr val="FCFCFC"/>
                  </a:solidFill>
                  <a:latin typeface="Extenda 40 Hecto"/>
                  <a:ea typeface="Extenda 40 Hecto"/>
                  <a:cs typeface="Extenda 40 Hecto"/>
                  <a:sym typeface="Extenda 40 Hecto"/>
                </a:rPr>
                <a:t>SYSTEM ARCHITECTURE</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0">
            <a:off x="1232463" y="0"/>
            <a:ext cx="15823074" cy="8801333"/>
            <a:chOff x="0" y="0"/>
            <a:chExt cx="21097432" cy="11735110"/>
          </a:xfrm>
        </p:grpSpPr>
        <p:sp>
          <p:nvSpPr>
            <p:cNvPr name="TextBox 4" id="4"/>
            <p:cNvSpPr txBox="true"/>
            <p:nvPr/>
          </p:nvSpPr>
          <p:spPr>
            <a:xfrm rot="0">
              <a:off x="1093381" y="657225"/>
              <a:ext cx="18539964" cy="4023999"/>
            </a:xfrm>
            <a:prstGeom prst="rect">
              <a:avLst/>
            </a:prstGeom>
          </p:spPr>
          <p:txBody>
            <a:bodyPr anchor="t" rtlCol="false" tIns="0" lIns="0" bIns="0" rIns="0">
              <a:spAutoFit/>
            </a:bodyPr>
            <a:lstStyle/>
            <a:p>
              <a:pPr algn="l">
                <a:lnSpc>
                  <a:spcPts val="20754"/>
                </a:lnSpc>
              </a:pPr>
              <a:r>
                <a:rPr lang="en-US" sz="23060">
                  <a:solidFill>
                    <a:srgbClr val="FCFCFC"/>
                  </a:solidFill>
                  <a:latin typeface="Extenda 40 Hecto"/>
                  <a:ea typeface="Extenda 40 Hecto"/>
                  <a:cs typeface="Extenda 40 Hecto"/>
                  <a:sym typeface="Extenda 40 Hecto"/>
                </a:rPr>
                <a:t>MODULE-WISE PLAN</a:t>
              </a:r>
            </a:p>
          </p:txBody>
        </p:sp>
        <p:sp>
          <p:nvSpPr>
            <p:cNvPr name="TextBox 5" id="5"/>
            <p:cNvSpPr txBox="true"/>
            <p:nvPr/>
          </p:nvSpPr>
          <p:spPr>
            <a:xfrm rot="0">
              <a:off x="0" y="4662174"/>
              <a:ext cx="21097432" cy="7072936"/>
            </a:xfrm>
            <a:prstGeom prst="rect">
              <a:avLst/>
            </a:prstGeom>
          </p:spPr>
          <p:txBody>
            <a:bodyPr anchor="t" rtlCol="false" tIns="0" lIns="0" bIns="0" rIns="0">
              <a:spAutoFit/>
            </a:bodyPr>
            <a:lstStyle/>
            <a:p>
              <a:pPr algn="l" marL="529608" indent="-264804" lvl="1">
                <a:lnSpc>
                  <a:spcPts val="2820"/>
                </a:lnSpc>
                <a:buFont typeface="Arial"/>
                <a:buChar char="•"/>
              </a:pPr>
              <a:r>
                <a:rPr lang="en-US" b="true" sz="2453">
                  <a:solidFill>
                    <a:srgbClr val="FCFCFC"/>
                  </a:solidFill>
                  <a:latin typeface="Poppins Bold"/>
                  <a:ea typeface="Poppins Bold"/>
                  <a:cs typeface="Poppins Bold"/>
                  <a:sym typeface="Poppins Bold"/>
                </a:rPr>
                <a:t>Resume Module:</a:t>
              </a:r>
            </a:p>
            <a:p>
              <a:pPr algn="l">
                <a:lnSpc>
                  <a:spcPts val="2820"/>
                </a:lnSpc>
              </a:pPr>
              <a:r>
                <a:rPr lang="en-US" sz="2453">
                  <a:solidFill>
                    <a:srgbClr val="FCFCFC"/>
                  </a:solidFill>
                  <a:latin typeface="Poppins"/>
                  <a:ea typeface="Poppins"/>
                  <a:cs typeface="Poppins"/>
                  <a:sym typeface="Poppins"/>
                </a:rPr>
                <a:t>   </a:t>
              </a:r>
              <a:r>
                <a:rPr lang="en-US" sz="2453">
                  <a:solidFill>
                    <a:srgbClr val="FCFCFC"/>
                  </a:solidFill>
                  <a:latin typeface="Poppins"/>
                  <a:ea typeface="Poppins"/>
                  <a:cs typeface="Poppins"/>
                  <a:sym typeface="Poppins"/>
                </a:rPr>
                <a:t>   Accepts resume text as input and performs basic preprocessing before analysis.</a:t>
              </a:r>
            </a:p>
            <a:p>
              <a:pPr algn="l">
                <a:lnSpc>
                  <a:spcPts val="2820"/>
                </a:lnSpc>
              </a:pPr>
            </a:p>
            <a:p>
              <a:pPr algn="l" marL="529608" indent="-264804" lvl="1">
                <a:lnSpc>
                  <a:spcPts val="2820"/>
                </a:lnSpc>
                <a:buFont typeface="Arial"/>
                <a:buChar char="•"/>
              </a:pPr>
              <a:r>
                <a:rPr lang="en-US" b="true" sz="2453">
                  <a:solidFill>
                    <a:srgbClr val="FCFCFC"/>
                  </a:solidFill>
                  <a:latin typeface="Poppins Bold"/>
                  <a:ea typeface="Poppins Bold"/>
                  <a:cs typeface="Poppins Bold"/>
                  <a:sym typeface="Poppins Bold"/>
                </a:rPr>
                <a:t>Job Description Module:</a:t>
              </a:r>
            </a:p>
            <a:p>
              <a:pPr algn="l">
                <a:lnSpc>
                  <a:spcPts val="2820"/>
                </a:lnSpc>
              </a:pPr>
              <a:r>
                <a:rPr lang="en-US" sz="2453">
                  <a:solidFill>
                    <a:srgbClr val="FCFCFC"/>
                  </a:solidFill>
                  <a:latin typeface="Poppins"/>
                  <a:ea typeface="Poppins"/>
                  <a:cs typeface="Poppins"/>
                  <a:sym typeface="Poppins"/>
                </a:rPr>
                <a:t>    </a:t>
              </a:r>
              <a:r>
                <a:rPr lang="en-US" sz="2453">
                  <a:solidFill>
                    <a:srgbClr val="FCFCFC"/>
                  </a:solidFill>
                  <a:latin typeface="Poppins"/>
                  <a:ea typeface="Poppins"/>
                  <a:cs typeface="Poppins"/>
                  <a:sym typeface="Poppins"/>
                </a:rPr>
                <a:t> Stores job role details along with required and optional skills for evaluation.</a:t>
              </a:r>
            </a:p>
            <a:p>
              <a:pPr algn="l">
                <a:lnSpc>
                  <a:spcPts val="2820"/>
                </a:lnSpc>
              </a:pPr>
            </a:p>
            <a:p>
              <a:pPr algn="l" marL="529608" indent="-264804" lvl="1">
                <a:lnSpc>
                  <a:spcPts val="2820"/>
                </a:lnSpc>
                <a:buFont typeface="Arial"/>
                <a:buChar char="•"/>
              </a:pPr>
              <a:r>
                <a:rPr lang="en-US" b="true" sz="2453">
                  <a:solidFill>
                    <a:srgbClr val="FCFCFC"/>
                  </a:solidFill>
                  <a:latin typeface="Poppins Bold"/>
                  <a:ea typeface="Poppins Bold"/>
                  <a:cs typeface="Poppins Bold"/>
                  <a:sym typeface="Poppins Bold"/>
                </a:rPr>
                <a:t>Skill Extraction Module:</a:t>
              </a:r>
            </a:p>
            <a:p>
              <a:pPr algn="l">
                <a:lnSpc>
                  <a:spcPts val="2820"/>
                </a:lnSpc>
              </a:pPr>
              <a:r>
                <a:rPr lang="en-US" sz="2453">
                  <a:solidFill>
                    <a:srgbClr val="FCFCFC"/>
                  </a:solidFill>
                  <a:latin typeface="Poppins"/>
                  <a:ea typeface="Poppins"/>
                  <a:cs typeface="Poppins"/>
                  <a:sym typeface="Poppins"/>
                </a:rPr>
                <a:t>     Scans resume and job description text to identify relevant skills using a predefined skill set.</a:t>
              </a:r>
            </a:p>
            <a:p>
              <a:pPr algn="l">
                <a:lnSpc>
                  <a:spcPts val="2820"/>
                </a:lnSpc>
              </a:pPr>
            </a:p>
            <a:p>
              <a:pPr algn="l" marL="529608" indent="-264804" lvl="1">
                <a:lnSpc>
                  <a:spcPts val="2820"/>
                </a:lnSpc>
                <a:buFont typeface="Arial"/>
                <a:buChar char="•"/>
              </a:pPr>
              <a:r>
                <a:rPr lang="en-US" b="true" sz="2453">
                  <a:solidFill>
                    <a:srgbClr val="FCFCFC"/>
                  </a:solidFill>
                  <a:latin typeface="Poppins Bold"/>
                  <a:ea typeface="Poppins Bold"/>
                  <a:cs typeface="Poppins Bold"/>
                  <a:sym typeface="Poppins Bold"/>
                </a:rPr>
                <a:t>Evaluation Module:</a:t>
              </a:r>
            </a:p>
            <a:p>
              <a:pPr algn="l">
                <a:lnSpc>
                  <a:spcPts val="2820"/>
                </a:lnSpc>
              </a:pPr>
              <a:r>
                <a:rPr lang="en-US" sz="2453">
                  <a:solidFill>
                    <a:srgbClr val="FCFCFC"/>
                  </a:solidFill>
                  <a:latin typeface="Poppins"/>
                  <a:ea typeface="Poppins"/>
                  <a:cs typeface="Poppins"/>
                  <a:sym typeface="Poppins"/>
                </a:rPr>
                <a:t>     </a:t>
              </a:r>
              <a:r>
                <a:rPr lang="en-US" sz="2453">
                  <a:solidFill>
                    <a:srgbClr val="FCFCFC"/>
                  </a:solidFill>
                  <a:latin typeface="Poppins"/>
                  <a:ea typeface="Poppins"/>
                  <a:cs typeface="Poppins"/>
                  <a:sym typeface="Poppins"/>
                </a:rPr>
                <a:t> Matches extracted skills, applies weighted scoring logic, and determines candidate suitability.</a:t>
              </a:r>
            </a:p>
            <a:p>
              <a:pPr algn="l">
                <a:lnSpc>
                  <a:spcPts val="2820"/>
                </a:lnSpc>
              </a:pPr>
            </a:p>
            <a:p>
              <a:pPr algn="l" marL="529608" indent="-264804" lvl="1">
                <a:lnSpc>
                  <a:spcPts val="2820"/>
                </a:lnSpc>
                <a:buFont typeface="Arial"/>
                <a:buChar char="•"/>
              </a:pPr>
              <a:r>
                <a:rPr lang="en-US" b="true" sz="2453">
                  <a:solidFill>
                    <a:srgbClr val="FCFCFC"/>
                  </a:solidFill>
                  <a:latin typeface="Poppins Bold"/>
                  <a:ea typeface="Poppins Bold"/>
                  <a:cs typeface="Poppins Bold"/>
                  <a:sym typeface="Poppins Bold"/>
                </a:rPr>
                <a:t>Report Module:</a:t>
              </a:r>
            </a:p>
            <a:p>
              <a:pPr algn="l">
                <a:lnSpc>
                  <a:spcPts val="2820"/>
                </a:lnSpc>
              </a:pPr>
              <a:r>
                <a:rPr lang="en-US" sz="2453" b="true">
                  <a:solidFill>
                    <a:srgbClr val="FCFCFC"/>
                  </a:solidFill>
                  <a:latin typeface="Poppins Bold"/>
                  <a:ea typeface="Poppins Bold"/>
                  <a:cs typeface="Poppins Bold"/>
                  <a:sym typeface="Poppins Bold"/>
                </a:rPr>
                <a:t>        </a:t>
              </a:r>
              <a:r>
                <a:rPr lang="en-US" sz="2453">
                  <a:solidFill>
                    <a:srgbClr val="FCFCFC"/>
                  </a:solidFill>
                  <a:latin typeface="Poppins"/>
                  <a:ea typeface="Poppins"/>
                  <a:cs typeface="Poppins"/>
                  <a:sym typeface="Poppins"/>
                </a:rPr>
                <a:t>Generates a clear summary showing matched skills, final score, and candidate classification.</a:t>
              </a:r>
            </a:p>
            <a:p>
              <a:pPr algn="l">
                <a:lnSpc>
                  <a:spcPts val="2820"/>
                </a:lnSpc>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sp>
        <p:nvSpPr>
          <p:cNvPr name="Freeform 3" id="3"/>
          <p:cNvSpPr/>
          <p:nvPr/>
        </p:nvSpPr>
        <p:spPr>
          <a:xfrm flipH="false" flipV="false" rot="0">
            <a:off x="1880163" y="3191250"/>
            <a:ext cx="2295530" cy="2403696"/>
          </a:xfrm>
          <a:custGeom>
            <a:avLst/>
            <a:gdLst/>
            <a:ahLst/>
            <a:cxnLst/>
            <a:rect r="r" b="b" t="t" l="l"/>
            <a:pathLst>
              <a:path h="2403696" w="2295530">
                <a:moveTo>
                  <a:pt x="0" y="0"/>
                </a:moveTo>
                <a:lnTo>
                  <a:pt x="2295530" y="0"/>
                </a:lnTo>
                <a:lnTo>
                  <a:pt x="2295530" y="2403696"/>
                </a:lnTo>
                <a:lnTo>
                  <a:pt x="0" y="2403696"/>
                </a:lnTo>
                <a:lnTo>
                  <a:pt x="0" y="0"/>
                </a:lnTo>
                <a:close/>
              </a:path>
            </a:pathLst>
          </a:custGeom>
          <a:blipFill>
            <a:blip r:embed="rId3"/>
            <a:stretch>
              <a:fillRect l="0" t="0" r="0" b="0"/>
            </a:stretch>
          </a:blipFill>
        </p:spPr>
      </p:sp>
      <p:sp>
        <p:nvSpPr>
          <p:cNvPr name="Freeform 4" id="4"/>
          <p:cNvSpPr/>
          <p:nvPr/>
        </p:nvSpPr>
        <p:spPr>
          <a:xfrm flipH="false" flipV="false" rot="0">
            <a:off x="1152043" y="6240176"/>
            <a:ext cx="4235788" cy="3123893"/>
          </a:xfrm>
          <a:custGeom>
            <a:avLst/>
            <a:gdLst/>
            <a:ahLst/>
            <a:cxnLst/>
            <a:rect r="r" b="b" t="t" l="l"/>
            <a:pathLst>
              <a:path h="3123893" w="4235788">
                <a:moveTo>
                  <a:pt x="0" y="0"/>
                </a:moveTo>
                <a:lnTo>
                  <a:pt x="4235788" y="0"/>
                </a:lnTo>
                <a:lnTo>
                  <a:pt x="4235788" y="3123894"/>
                </a:lnTo>
                <a:lnTo>
                  <a:pt x="0" y="3123894"/>
                </a:lnTo>
                <a:lnTo>
                  <a:pt x="0" y="0"/>
                </a:lnTo>
                <a:close/>
              </a:path>
            </a:pathLst>
          </a:custGeom>
          <a:blipFill>
            <a:blip r:embed="rId4"/>
            <a:stretch>
              <a:fillRect l="0" t="0" r="0" b="0"/>
            </a:stretch>
          </a:blipFill>
        </p:spPr>
      </p:sp>
      <p:sp>
        <p:nvSpPr>
          <p:cNvPr name="Freeform 5" id="5"/>
          <p:cNvSpPr/>
          <p:nvPr/>
        </p:nvSpPr>
        <p:spPr>
          <a:xfrm flipH="false" flipV="false" rot="0">
            <a:off x="6354209" y="2892550"/>
            <a:ext cx="4001459" cy="3001094"/>
          </a:xfrm>
          <a:custGeom>
            <a:avLst/>
            <a:gdLst/>
            <a:ahLst/>
            <a:cxnLst/>
            <a:rect r="r" b="b" t="t" l="l"/>
            <a:pathLst>
              <a:path h="3001094" w="4001459">
                <a:moveTo>
                  <a:pt x="0" y="0"/>
                </a:moveTo>
                <a:lnTo>
                  <a:pt x="4001459" y="0"/>
                </a:lnTo>
                <a:lnTo>
                  <a:pt x="4001459" y="3001095"/>
                </a:lnTo>
                <a:lnTo>
                  <a:pt x="0" y="3001095"/>
                </a:lnTo>
                <a:lnTo>
                  <a:pt x="0" y="0"/>
                </a:lnTo>
                <a:close/>
              </a:path>
            </a:pathLst>
          </a:custGeom>
          <a:blipFill>
            <a:blip r:embed="rId5"/>
            <a:stretch>
              <a:fillRect l="0" t="0" r="0" b="0"/>
            </a:stretch>
          </a:blipFill>
        </p:spPr>
      </p:sp>
      <p:sp>
        <p:nvSpPr>
          <p:cNvPr name="Freeform 6" id="6"/>
          <p:cNvSpPr/>
          <p:nvPr/>
        </p:nvSpPr>
        <p:spPr>
          <a:xfrm flipH="false" flipV="false" rot="0">
            <a:off x="7331829" y="6290203"/>
            <a:ext cx="3023839" cy="3023839"/>
          </a:xfrm>
          <a:custGeom>
            <a:avLst/>
            <a:gdLst/>
            <a:ahLst/>
            <a:cxnLst/>
            <a:rect r="r" b="b" t="t" l="l"/>
            <a:pathLst>
              <a:path h="3023839" w="3023839">
                <a:moveTo>
                  <a:pt x="0" y="0"/>
                </a:moveTo>
                <a:lnTo>
                  <a:pt x="3023839" y="0"/>
                </a:lnTo>
                <a:lnTo>
                  <a:pt x="3023839" y="3023839"/>
                </a:lnTo>
                <a:lnTo>
                  <a:pt x="0" y="3023839"/>
                </a:lnTo>
                <a:lnTo>
                  <a:pt x="0" y="0"/>
                </a:lnTo>
                <a:close/>
              </a:path>
            </a:pathLst>
          </a:custGeom>
          <a:blipFill>
            <a:blip r:embed="rId6"/>
            <a:stretch>
              <a:fillRect l="0" t="0" r="0" b="0"/>
            </a:stretch>
          </a:blipFill>
        </p:spPr>
      </p:sp>
      <p:sp>
        <p:nvSpPr>
          <p:cNvPr name="Freeform 7" id="7"/>
          <p:cNvSpPr/>
          <p:nvPr/>
        </p:nvSpPr>
        <p:spPr>
          <a:xfrm flipH="false" flipV="false" rot="0">
            <a:off x="13385416" y="2694271"/>
            <a:ext cx="3397653" cy="3397653"/>
          </a:xfrm>
          <a:custGeom>
            <a:avLst/>
            <a:gdLst/>
            <a:ahLst/>
            <a:cxnLst/>
            <a:rect r="r" b="b" t="t" l="l"/>
            <a:pathLst>
              <a:path h="3397653" w="3397653">
                <a:moveTo>
                  <a:pt x="0" y="0"/>
                </a:moveTo>
                <a:lnTo>
                  <a:pt x="3397653" y="0"/>
                </a:lnTo>
                <a:lnTo>
                  <a:pt x="3397653" y="3397653"/>
                </a:lnTo>
                <a:lnTo>
                  <a:pt x="0" y="3397653"/>
                </a:lnTo>
                <a:lnTo>
                  <a:pt x="0" y="0"/>
                </a:lnTo>
                <a:close/>
              </a:path>
            </a:pathLst>
          </a:custGeom>
          <a:blipFill>
            <a:blip r:embed="rId7"/>
            <a:stretch>
              <a:fillRect l="0" t="0" r="0" b="0"/>
            </a:stretch>
          </a:blipFill>
        </p:spPr>
      </p:sp>
      <p:sp>
        <p:nvSpPr>
          <p:cNvPr name="Freeform 8" id="8"/>
          <p:cNvSpPr/>
          <p:nvPr/>
        </p:nvSpPr>
        <p:spPr>
          <a:xfrm flipH="false" flipV="false" rot="0">
            <a:off x="11227601" y="7202908"/>
            <a:ext cx="7713284" cy="1754197"/>
          </a:xfrm>
          <a:custGeom>
            <a:avLst/>
            <a:gdLst/>
            <a:ahLst/>
            <a:cxnLst/>
            <a:rect r="r" b="b" t="t" l="l"/>
            <a:pathLst>
              <a:path h="1754197" w="7713284">
                <a:moveTo>
                  <a:pt x="0" y="0"/>
                </a:moveTo>
                <a:lnTo>
                  <a:pt x="7713284" y="0"/>
                </a:lnTo>
                <a:lnTo>
                  <a:pt x="7713284" y="1754197"/>
                </a:lnTo>
                <a:lnTo>
                  <a:pt x="0" y="1754197"/>
                </a:lnTo>
                <a:lnTo>
                  <a:pt x="0" y="0"/>
                </a:lnTo>
                <a:close/>
              </a:path>
            </a:pathLst>
          </a:custGeom>
          <a:blipFill>
            <a:blip r:embed="rId8"/>
            <a:stretch>
              <a:fillRect l="0" t="-69684" r="0" b="-77648"/>
            </a:stretch>
          </a:blipFill>
        </p:spPr>
      </p:sp>
      <p:sp>
        <p:nvSpPr>
          <p:cNvPr name="TextBox 9" id="9"/>
          <p:cNvSpPr txBox="true"/>
          <p:nvPr/>
        </p:nvSpPr>
        <p:spPr>
          <a:xfrm rot="0">
            <a:off x="-2387191" y="981078"/>
            <a:ext cx="14125853" cy="2711091"/>
          </a:xfrm>
          <a:prstGeom prst="rect">
            <a:avLst/>
          </a:prstGeom>
        </p:spPr>
        <p:txBody>
          <a:bodyPr anchor="t" rtlCol="false" tIns="0" lIns="0" bIns="0" rIns="0">
            <a:spAutoFit/>
          </a:bodyPr>
          <a:lstStyle/>
          <a:p>
            <a:pPr algn="r">
              <a:lnSpc>
                <a:spcPts val="18836"/>
              </a:lnSpc>
            </a:pPr>
            <a:r>
              <a:rPr lang="en-US" sz="23545">
                <a:solidFill>
                  <a:srgbClr val="F7F7F7"/>
                </a:solidFill>
                <a:latin typeface="Extenda 40 Hecto"/>
                <a:ea typeface="Extenda 40 Hecto"/>
                <a:cs typeface="Extenda 40 Hecto"/>
                <a:sym typeface="Extenda 40 Hecto"/>
              </a:rPr>
              <a:t>TOOLS REQUIRED</a:t>
            </a:r>
          </a:p>
        </p:txBody>
      </p:sp>
      <p:sp>
        <p:nvSpPr>
          <p:cNvPr name="TextBox 10" id="10"/>
          <p:cNvSpPr txBox="true"/>
          <p:nvPr/>
        </p:nvSpPr>
        <p:spPr>
          <a:xfrm rot="0">
            <a:off x="2292369" y="5665456"/>
            <a:ext cx="1623518" cy="446853"/>
          </a:xfrm>
          <a:prstGeom prst="rect">
            <a:avLst/>
          </a:prstGeom>
        </p:spPr>
        <p:txBody>
          <a:bodyPr anchor="t" rtlCol="false" tIns="0" lIns="0" bIns="0" rIns="0">
            <a:spAutoFit/>
          </a:bodyPr>
          <a:lstStyle/>
          <a:p>
            <a:pPr algn="l">
              <a:lnSpc>
                <a:spcPts val="3301"/>
              </a:lnSpc>
            </a:pPr>
            <a:r>
              <a:rPr lang="en-US" sz="2870" b="true">
                <a:solidFill>
                  <a:srgbClr val="F0F0F0"/>
                </a:solidFill>
                <a:latin typeface="Poppins Bold"/>
                <a:ea typeface="Poppins Bold"/>
                <a:cs typeface="Poppins Bold"/>
                <a:sym typeface="Poppins Bold"/>
              </a:rPr>
              <a:t>Python</a:t>
            </a:r>
          </a:p>
        </p:txBody>
      </p:sp>
      <p:sp>
        <p:nvSpPr>
          <p:cNvPr name="TextBox 11" id="11"/>
          <p:cNvSpPr txBox="true"/>
          <p:nvPr/>
        </p:nvSpPr>
        <p:spPr>
          <a:xfrm rot="0">
            <a:off x="5750993" y="5665456"/>
            <a:ext cx="7316459" cy="446853"/>
          </a:xfrm>
          <a:prstGeom prst="rect">
            <a:avLst/>
          </a:prstGeom>
        </p:spPr>
        <p:txBody>
          <a:bodyPr anchor="t" rtlCol="false" tIns="0" lIns="0" bIns="0" rIns="0">
            <a:spAutoFit/>
          </a:bodyPr>
          <a:lstStyle/>
          <a:p>
            <a:pPr algn="l">
              <a:lnSpc>
                <a:spcPts val="3301"/>
              </a:lnSpc>
            </a:pPr>
            <a:r>
              <a:rPr lang="en-US" sz="2870" b="true">
                <a:solidFill>
                  <a:srgbClr val="F0F0F0"/>
                </a:solidFill>
                <a:latin typeface="Poppins Bold"/>
                <a:ea typeface="Poppins Bold"/>
                <a:cs typeface="Poppins Bold"/>
                <a:sym typeface="Poppins Bold"/>
              </a:rPr>
              <a:t>Object oriented programming</a:t>
            </a:r>
          </a:p>
        </p:txBody>
      </p:sp>
      <p:sp>
        <p:nvSpPr>
          <p:cNvPr name="TextBox 12" id="12"/>
          <p:cNvSpPr txBox="true"/>
          <p:nvPr/>
        </p:nvSpPr>
        <p:spPr>
          <a:xfrm rot="0">
            <a:off x="13394941" y="5645071"/>
            <a:ext cx="3771468" cy="446853"/>
          </a:xfrm>
          <a:prstGeom prst="rect">
            <a:avLst/>
          </a:prstGeom>
        </p:spPr>
        <p:txBody>
          <a:bodyPr anchor="t" rtlCol="false" tIns="0" lIns="0" bIns="0" rIns="0">
            <a:spAutoFit/>
          </a:bodyPr>
          <a:lstStyle/>
          <a:p>
            <a:pPr algn="l">
              <a:lnSpc>
                <a:spcPts val="3301"/>
              </a:lnSpc>
            </a:pPr>
            <a:r>
              <a:rPr lang="en-US" sz="2870" b="true">
                <a:solidFill>
                  <a:srgbClr val="F0F0F0"/>
                </a:solidFill>
                <a:latin typeface="Poppins Bold"/>
                <a:ea typeface="Poppins Bold"/>
                <a:cs typeface="Poppins Bold"/>
                <a:sym typeface="Poppins Bold"/>
              </a:rPr>
              <a:t>Console interface</a:t>
            </a:r>
          </a:p>
        </p:txBody>
      </p:sp>
      <p:sp>
        <p:nvSpPr>
          <p:cNvPr name="TextBox 13" id="13"/>
          <p:cNvSpPr txBox="true"/>
          <p:nvPr/>
        </p:nvSpPr>
        <p:spPr>
          <a:xfrm rot="0">
            <a:off x="7967193" y="9485492"/>
            <a:ext cx="2388475" cy="446853"/>
          </a:xfrm>
          <a:prstGeom prst="rect">
            <a:avLst/>
          </a:prstGeom>
        </p:spPr>
        <p:txBody>
          <a:bodyPr anchor="t" rtlCol="false" tIns="0" lIns="0" bIns="0" rIns="0">
            <a:spAutoFit/>
          </a:bodyPr>
          <a:lstStyle/>
          <a:p>
            <a:pPr algn="l">
              <a:lnSpc>
                <a:spcPts val="3301"/>
              </a:lnSpc>
            </a:pPr>
            <a:r>
              <a:rPr lang="en-US" sz="2870" b="true">
                <a:solidFill>
                  <a:srgbClr val="F0F0F0"/>
                </a:solidFill>
                <a:latin typeface="Poppins Bold"/>
                <a:ea typeface="Poppins Bold"/>
                <a:cs typeface="Poppins Bold"/>
                <a:sym typeface="Poppins Bold"/>
              </a:rPr>
              <a:t>Text Files</a:t>
            </a:r>
          </a:p>
        </p:txBody>
      </p:sp>
      <p:sp>
        <p:nvSpPr>
          <p:cNvPr name="TextBox 14" id="14"/>
          <p:cNvSpPr txBox="true"/>
          <p:nvPr/>
        </p:nvSpPr>
        <p:spPr>
          <a:xfrm rot="0">
            <a:off x="13491247" y="9485492"/>
            <a:ext cx="3768053" cy="446853"/>
          </a:xfrm>
          <a:prstGeom prst="rect">
            <a:avLst/>
          </a:prstGeom>
        </p:spPr>
        <p:txBody>
          <a:bodyPr anchor="t" rtlCol="false" tIns="0" lIns="0" bIns="0" rIns="0">
            <a:spAutoFit/>
          </a:bodyPr>
          <a:lstStyle/>
          <a:p>
            <a:pPr algn="l">
              <a:lnSpc>
                <a:spcPts val="3301"/>
              </a:lnSpc>
            </a:pPr>
            <a:r>
              <a:rPr lang="en-US" sz="2870" b="true">
                <a:solidFill>
                  <a:srgbClr val="F0F0F0"/>
                </a:solidFill>
                <a:latin typeface="Poppins Bold"/>
                <a:ea typeface="Poppins Bold"/>
                <a:cs typeface="Poppins Bold"/>
                <a:sym typeface="Poppins Bold"/>
              </a:rPr>
              <a:t>Windows platform</a:t>
            </a:r>
          </a:p>
        </p:txBody>
      </p:sp>
      <p:sp>
        <p:nvSpPr>
          <p:cNvPr name="TextBox 15" id="15"/>
          <p:cNvSpPr txBox="true"/>
          <p:nvPr/>
        </p:nvSpPr>
        <p:spPr>
          <a:xfrm rot="0">
            <a:off x="1385911" y="9354545"/>
            <a:ext cx="3768053" cy="446853"/>
          </a:xfrm>
          <a:prstGeom prst="rect">
            <a:avLst/>
          </a:prstGeom>
        </p:spPr>
        <p:txBody>
          <a:bodyPr anchor="t" rtlCol="false" tIns="0" lIns="0" bIns="0" rIns="0">
            <a:spAutoFit/>
          </a:bodyPr>
          <a:lstStyle/>
          <a:p>
            <a:pPr algn="l">
              <a:lnSpc>
                <a:spcPts val="3301"/>
              </a:lnSpc>
            </a:pPr>
            <a:r>
              <a:rPr lang="en-US" sz="2870" b="true">
                <a:solidFill>
                  <a:srgbClr val="F0F0F0"/>
                </a:solidFill>
                <a:latin typeface="Poppins Bold"/>
                <a:ea typeface="Poppins Bold"/>
                <a:cs typeface="Poppins Bold"/>
                <a:sym typeface="Poppins Bold"/>
              </a:rPr>
              <a:t>Visual Studio Code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sp>
        <p:nvSpPr>
          <p:cNvPr name="TextBox 3" id="3"/>
          <p:cNvSpPr txBox="true"/>
          <p:nvPr/>
        </p:nvSpPr>
        <p:spPr>
          <a:xfrm rot="0">
            <a:off x="8882316" y="6793289"/>
            <a:ext cx="9135115" cy="2465011"/>
          </a:xfrm>
          <a:prstGeom prst="rect">
            <a:avLst/>
          </a:prstGeom>
        </p:spPr>
        <p:txBody>
          <a:bodyPr anchor="t" rtlCol="false" tIns="0" lIns="0" bIns="0" rIns="0">
            <a:spAutoFit/>
          </a:bodyPr>
          <a:lstStyle/>
          <a:p>
            <a:pPr algn="l">
              <a:lnSpc>
                <a:spcPts val="16814"/>
              </a:lnSpc>
            </a:pPr>
            <a:r>
              <a:rPr lang="en-US" sz="22123">
                <a:solidFill>
                  <a:srgbClr val="F0F0F0"/>
                </a:solidFill>
                <a:latin typeface="Extenda 40 Hecto"/>
                <a:ea typeface="Extenda 40 Hecto"/>
                <a:cs typeface="Extenda 40 Hecto"/>
                <a:sym typeface="Extenda 40 Hecto"/>
              </a:rPr>
              <a:t>CONCLUSION</a:t>
            </a:r>
          </a:p>
        </p:txBody>
      </p:sp>
      <p:sp>
        <p:nvSpPr>
          <p:cNvPr name="TextBox 4" id="4"/>
          <p:cNvSpPr txBox="true"/>
          <p:nvPr/>
        </p:nvSpPr>
        <p:spPr>
          <a:xfrm rot="0">
            <a:off x="1028700" y="2195034"/>
            <a:ext cx="13183650" cy="2948466"/>
          </a:xfrm>
          <a:prstGeom prst="rect">
            <a:avLst/>
          </a:prstGeom>
        </p:spPr>
        <p:txBody>
          <a:bodyPr anchor="t" rtlCol="false" tIns="0" lIns="0" bIns="0" rIns="0">
            <a:spAutoFit/>
          </a:bodyPr>
          <a:lstStyle/>
          <a:p>
            <a:pPr algn="l">
              <a:lnSpc>
                <a:spcPts val="3301"/>
              </a:lnSpc>
            </a:pPr>
            <a:r>
              <a:rPr lang="en-US" sz="2870">
                <a:solidFill>
                  <a:srgbClr val="F0F0F0"/>
                </a:solidFill>
                <a:latin typeface="Poppins"/>
                <a:ea typeface="Poppins"/>
                <a:cs typeface="Poppins"/>
                <a:sym typeface="Poppins"/>
              </a:rPr>
              <a:t>This project provides a simple and effective approach to resume screening.</a:t>
            </a:r>
          </a:p>
          <a:p>
            <a:pPr algn="l">
              <a:lnSpc>
                <a:spcPts val="3301"/>
              </a:lnSpc>
            </a:pPr>
            <a:r>
              <a:rPr lang="en-US" sz="2870">
                <a:solidFill>
                  <a:srgbClr val="F0F0F0"/>
                </a:solidFill>
                <a:latin typeface="Poppins"/>
                <a:ea typeface="Poppins"/>
                <a:cs typeface="Poppins"/>
                <a:sym typeface="Poppins"/>
              </a:rPr>
              <a:t> By automating skill extraction and evaluation, it helps reduce manual    work and supports better shortlisting decisions.</a:t>
            </a:r>
          </a:p>
          <a:p>
            <a:pPr algn="l">
              <a:lnSpc>
                <a:spcPts val="3301"/>
              </a:lnSpc>
            </a:pPr>
          </a:p>
          <a:p>
            <a:pPr algn="l">
              <a:lnSpc>
                <a:spcPts val="3301"/>
              </a:lnSpc>
            </a:pPr>
            <a:r>
              <a:rPr lang="en-US" sz="2870">
                <a:solidFill>
                  <a:srgbClr val="F0F0F0"/>
                </a:solidFill>
                <a:latin typeface="Poppins"/>
                <a:ea typeface="Poppins"/>
                <a:cs typeface="Poppins"/>
                <a:sym typeface="Poppins"/>
              </a:rPr>
              <a:t> The modular design allows the system to be easily extended in the future.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sp>
        <p:nvSpPr>
          <p:cNvPr name="TextBox 3" id="3"/>
          <p:cNvSpPr txBox="true"/>
          <p:nvPr/>
        </p:nvSpPr>
        <p:spPr>
          <a:xfrm rot="0">
            <a:off x="5494983" y="1050063"/>
            <a:ext cx="7298035" cy="1486908"/>
          </a:xfrm>
          <a:prstGeom prst="rect">
            <a:avLst/>
          </a:prstGeom>
        </p:spPr>
        <p:txBody>
          <a:bodyPr anchor="t" rtlCol="false" tIns="0" lIns="0" bIns="0" rIns="0">
            <a:spAutoFit/>
          </a:bodyPr>
          <a:lstStyle/>
          <a:p>
            <a:pPr algn="l">
              <a:lnSpc>
                <a:spcPts val="10176"/>
              </a:lnSpc>
            </a:pPr>
            <a:r>
              <a:rPr lang="en-US" sz="13390" u="sng">
                <a:solidFill>
                  <a:srgbClr val="F0F0F0"/>
                </a:solidFill>
                <a:latin typeface="Extenda 40 Hecto"/>
                <a:ea typeface="Extenda 40 Hecto"/>
                <a:cs typeface="Extenda 40 Hecto"/>
                <a:sym typeface="Extenda 40 Hecto"/>
              </a:rPr>
              <a:t>PROJECT REVIEW</a:t>
            </a:r>
          </a:p>
        </p:txBody>
      </p:sp>
      <p:sp>
        <p:nvSpPr>
          <p:cNvPr name="TextBox 4" id="4"/>
          <p:cNvSpPr txBox="true"/>
          <p:nvPr/>
        </p:nvSpPr>
        <p:spPr>
          <a:xfrm rot="0">
            <a:off x="2683482" y="3807727"/>
            <a:ext cx="12921035" cy="3679981"/>
          </a:xfrm>
          <a:prstGeom prst="rect">
            <a:avLst/>
          </a:prstGeom>
        </p:spPr>
        <p:txBody>
          <a:bodyPr anchor="t" rtlCol="false" tIns="0" lIns="0" bIns="0" rIns="0">
            <a:spAutoFit/>
          </a:bodyPr>
          <a:lstStyle/>
          <a:p>
            <a:pPr algn="ctr">
              <a:lnSpc>
                <a:spcPts val="13631"/>
              </a:lnSpc>
            </a:pPr>
            <a:r>
              <a:rPr lang="en-US" sz="16623">
                <a:solidFill>
                  <a:srgbClr val="E0E0E4"/>
                </a:solidFill>
                <a:latin typeface="Extenda 40 Hecto"/>
                <a:ea typeface="Extenda 40 Hecto"/>
                <a:cs typeface="Extenda 40 Hecto"/>
                <a:sym typeface="Extenda 40 Hecto"/>
              </a:rPr>
              <a:t>RESUME SCREENING AND EVALUATION SYSTEM</a:t>
            </a:r>
          </a:p>
        </p:txBody>
      </p:sp>
      <p:grpSp>
        <p:nvGrpSpPr>
          <p:cNvPr name="Group 5" id="5"/>
          <p:cNvGrpSpPr/>
          <p:nvPr/>
        </p:nvGrpSpPr>
        <p:grpSpPr>
          <a:xfrm rot="0">
            <a:off x="12319964" y="7740595"/>
            <a:ext cx="4607169" cy="1648966"/>
            <a:chOff x="0" y="0"/>
            <a:chExt cx="6142893" cy="2198621"/>
          </a:xfrm>
        </p:grpSpPr>
        <p:sp>
          <p:nvSpPr>
            <p:cNvPr name="Freeform 6" id="6"/>
            <p:cNvSpPr/>
            <p:nvPr/>
          </p:nvSpPr>
          <p:spPr>
            <a:xfrm flipH="false" flipV="false" rot="0">
              <a:off x="2246849" y="0"/>
              <a:ext cx="3896044" cy="2198621"/>
            </a:xfrm>
            <a:custGeom>
              <a:avLst/>
              <a:gdLst/>
              <a:ahLst/>
              <a:cxnLst/>
              <a:rect r="r" b="b" t="t" l="l"/>
              <a:pathLst>
                <a:path h="2198621" w="3896044">
                  <a:moveTo>
                    <a:pt x="0" y="0"/>
                  </a:moveTo>
                  <a:lnTo>
                    <a:pt x="3896044" y="0"/>
                  </a:lnTo>
                  <a:lnTo>
                    <a:pt x="3896044" y="2198621"/>
                  </a:lnTo>
                  <a:lnTo>
                    <a:pt x="0" y="2198621"/>
                  </a:lnTo>
                  <a:lnTo>
                    <a:pt x="0" y="0"/>
                  </a:lnTo>
                  <a:close/>
                </a:path>
              </a:pathLst>
            </a:custGeom>
            <a:blipFill>
              <a:blip r:embed="rId3"/>
              <a:stretch>
                <a:fillRect l="-323" t="0" r="0" b="0"/>
              </a:stretch>
            </a:blipFill>
          </p:spPr>
        </p:sp>
        <p:sp>
          <p:nvSpPr>
            <p:cNvPr name="TextBox 7" id="7"/>
            <p:cNvSpPr txBox="true"/>
            <p:nvPr/>
          </p:nvSpPr>
          <p:spPr>
            <a:xfrm rot="0">
              <a:off x="0" y="884905"/>
              <a:ext cx="3896044" cy="419287"/>
            </a:xfrm>
            <a:prstGeom prst="rect">
              <a:avLst/>
            </a:prstGeom>
          </p:spPr>
          <p:txBody>
            <a:bodyPr anchor="t" rtlCol="false" tIns="0" lIns="0" bIns="0" rIns="0">
              <a:spAutoFit/>
            </a:bodyPr>
            <a:lstStyle/>
            <a:p>
              <a:pPr algn="ctr">
                <a:lnSpc>
                  <a:spcPts val="2319"/>
                </a:lnSpc>
              </a:pPr>
              <a:r>
                <a:rPr lang="en-US" b="true" sz="2017">
                  <a:solidFill>
                    <a:srgbClr val="F7F7F7"/>
                  </a:solidFill>
                  <a:latin typeface="Poppins Bold"/>
                  <a:ea typeface="Poppins Bold"/>
                  <a:cs typeface="Poppins Bold"/>
                  <a:sym typeface="Poppins Bold"/>
                </a:rPr>
                <a:t>-Team</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DAG9u1Npk1k</dc:identifier>
  <dcterms:modified xsi:type="dcterms:W3CDTF">2011-08-01T06:04:30Z</dcterms:modified>
  <cp:revision>1</cp:revision>
  <dc:title>Resume Screening and Evaluation System</dc:title>
</cp:coreProperties>
</file>